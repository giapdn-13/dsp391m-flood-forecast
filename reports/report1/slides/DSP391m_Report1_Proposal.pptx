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Cambria"/>
              </a:defRPr>
            </a:pPr>
            <a:r>
              <a:rPr sz="1300" b="0" i="0" u="none" strike="noStrike">
                <a:solidFill>
                  <a:srgbClr val="0B3C5D"/>
                </a:solidFill>
                <a:latin typeface="Cambria"/>
              </a:rPr>
              <a:t>Rainfall leads discharge by one day</a:t>
            </a:r>
          </a:p>
        </c:rich>
      </c:tx>
      <c:layout/>
      <c:overlay val="0"/>
    </c:title>
    <c:autoTitleDeleted val="0"/>
    <c:plotArea>
      <c:layout/>
      <c:barChart>
        <c:barDir val="col"/>
        <c:grouping val="clustered"/>
        <c:varyColors val="0"/>
        <c:ser>
          <c:idx val="0"/>
          <c:order val="0"/>
          <c:tx>
            <c:strRef>
              <c:f>Sheet1!$B$1</c:f>
              <c:strCache>
                <c:ptCount val="1"/>
                <c:pt idx="0">
                  <c:v>Correlation with discharge</c:v>
                </c:pt>
              </c:strCache>
            </c:strRef>
          </c:tx>
          <c:spPr>
            <a:solidFill>
              <a:srgbClr val="1D7A8C"/>
            </a:solidFill>
            <a:effectLst/>
          </c:spPr>
          <c:invertIfNegative val="0"/>
          <c:dLbls>
            <c:numFmt formatCode="0.00" sourceLinked="0"/>
            <c:txPr>
              <a:bodyPr/>
              <a:lstStyle/>
              <a:p>
                <a:pPr>
                  <a:defRPr b="0" i="0" strike="noStrike" sz="900" u="none">
                    <a:solidFill>
                      <a:srgbClr val="6E8A98"/>
                    </a:solidFill>
                    <a:latin typeface="Arial"/>
                  </a:defRPr>
                </a:pPr>
              </a:p>
            </c:txPr>
            <c:showLegendKey val="0"/>
            <c:showVal val="1"/>
            <c:showCatName val="0"/>
            <c:showSerName val="0"/>
            <c:showPercent val="0"/>
            <c:showBubbleSize val="0"/>
            <c:showLeaderLines val="0"/>
          </c:dLbls>
          <c:cat>
            <c:multiLvlStrRef>
              <c:f>Sheet1!$A$2:$A$9</c:f>
              <c:multiLvlStrCache>
                <c:ptCount val="8"/>
                <c:lvl>
                  <c:pt idx="0">
                    <c:v>0 d</c:v>
                  </c:pt>
                  <c:pt idx="1">
                    <c:v>1 d</c:v>
                  </c:pt>
                  <c:pt idx="2">
                    <c:v>2 d</c:v>
                  </c:pt>
                  <c:pt idx="3">
                    <c:v>3 d</c:v>
                  </c:pt>
                  <c:pt idx="4">
                    <c:v>4 d</c:v>
                  </c:pt>
                  <c:pt idx="5">
                    <c:v>5 d</c:v>
                  </c:pt>
                  <c:pt idx="6">
                    <c:v>6 d</c:v>
                  </c:pt>
                  <c:pt idx="7">
                    <c:v>7 d</c:v>
                  </c:pt>
                </c:lvl>
              </c:multiLvlStrCache>
            </c:multiLvlStrRef>
          </c:cat>
          <c:val>
            <c:numRef>
              <c:f>Sheet1!$B$2:$B$9</c:f>
              <c:numCache>
                <c:formatCode>General</c:formatCode>
                <c:ptCount val="8"/>
                <c:pt idx="0">
                  <c:v>0.641</c:v>
                </c:pt>
                <c:pt idx="1">
                  <c:v>0.79</c:v>
                </c:pt>
                <c:pt idx="2">
                  <c:v>0.608</c:v>
                </c:pt>
                <c:pt idx="3">
                  <c:v>0.382</c:v>
                </c:pt>
                <c:pt idx="4">
                  <c:v>0.284</c:v>
                </c:pt>
                <c:pt idx="5">
                  <c:v>0.233</c:v>
                </c:pt>
                <c:pt idx="6">
                  <c:v>0.184</c:v>
                </c:pt>
                <c:pt idx="7">
                  <c:v>0.149</c:v>
                </c:pt>
              </c:numCache>
            </c:numRef>
          </c:val>
        </c:ser>
        <c:dLbls>
          <c:numFmt formatCode="0.00" sourceLinked="0"/>
          <c:txPr>
            <a:bodyPr/>
            <a:lstStyle/>
            <a:p>
              <a:pPr>
                <a:defRPr b="0" i="0" strike="noStrike" sz="900" u="none">
                  <a:solidFill>
                    <a:srgbClr val="6E8A9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8A9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6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8A9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forecasts flood risk one to three days ahead for the Huong River in Hue, using only open data. Central Vietnam is the most flood-affected region in the country, but local gauging coverage is thin. We ask whether freely available global data can close part of that gap. I will cover the subject and its big-data context, the problem and the analytics approach we chose, and how we collect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Huong basin is about 2,830 square kilometres — small and steep, so floods rise and fall inside a day or two. That short response time is exactly what makes a one-to-three-day forecast useful, and also what makes it hard. On the right are the official alert stages at Kim Long: one, two and three and a half metres. We anchor our target variable to these stages rather than inventing our own scale, because these are the numbers local authorities already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avoid claiming this is big data just because it is large. Volume is moderate — about fifteen hundred files. What actually makes it a data-engineering problem is variety and veracity. Six different source types have to be reconciled onto one daily timeline, and the discharge series is simulated rather than measured. We treat that as a stated limitation, not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targets. The regression problem asks how much water; the classification problem asks which alert stage. They are linked by a unit conversion that is not trivial: the legal thresholds are water levels in metres, our data is discharge in cubic metres per second, and we could not obtain a measured rating curve. So we build that mapping from documented flood peaks instead — and we name it a calibration mapping, not a rating curve, because it absorbs model error as well as channel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four analytics types, our work is primarily predictive. Descriptive analysis supports it and diagnostic comes through model explanation. We deliberately exclude prescriptive: recommending an evacuation is a decision that needs legal authority we do not have, and claiming otherwise would be irresponsible for a student project. The last line is important — a global system already forecasts this cell, so our contribution is local correction and translation into Vietnamese alert stages, not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inputs feed one daily analysis table. Five of them are already on disk. The one still in progress is the set of documented flood peaks, and it is the critical path: without it we cannot convert the legal water-level thresholds into discharge, which means the classification target does not exist. That is a manual reading task — bulletins and disaster reports — and it cannot be automated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is a four-stage pipeline. The engineering detail worth a minute is the third bullet. We spent time diagnosing rate-limit errors and blaming the data provider, when in fact our own shell had left three crawler processes running in parallel, competing with each other. With a single process the entire collection finished in about thirty-five minutes with no errors at all. The lesson we wrote into our documentation: when you see rate limiting, count your own processes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show this proposal is not speculative. The data is collected, the table is assembled, and the signal is there: rainfall leads discharge by exactly one day with a correlation of point seven nine. Notice that single-day rainfall beats every multi-day accumulation — the basin responds fast, which is physically consistent with its small steep geometry and supports our short forecast horizon. We have also measured our baselines, so when we report model performance later there will be a real reference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deliverables for this slot: the IEEE-format report as a PDF, and this presentation in English. On the right is the full nine-week schedule. Report 3 carries forty percent and the viva is assessed individually, which is why our team agreed that every member has to be able to explain the whole project, not just the part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our contribution in one sentence is correction and localisation, not replacement. Three next steps, and three limitations we state openly rather than let a reviewer find. The most important is the second one — the five kilometre grid cannot separate the neighbouring Bo River, so we narrowed the study to one station rather than pretend to cover two.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63A"/>
        </a:solidFill>
      </p:bgPr>
    </p:bg>
    <p:spTree>
      <p:nvGrpSpPr>
        <p:cNvPr id="1" name=""/>
        <p:cNvGrpSpPr/>
        <p:nvPr/>
      </p:nvGrpSpPr>
      <p:grpSpPr>
        <a:xfrm>
          <a:off x="0" y="0"/>
          <a:ext cx="0" cy="0"/>
          <a:chOff x="0" y="0"/>
          <a:chExt cx="0" cy="0"/>
        </a:xfrm>
      </p:grpSpPr>
      <p:sp>
        <p:nvSpPr>
          <p:cNvPr id="2" name="Text 0"/>
          <p:cNvSpPr txBox="1"/>
          <p:nvPr/>
        </p:nvSpPr>
        <p:spPr>
          <a:xfrm>
            <a:off x="566928" y="1371600"/>
            <a:ext cx="11027664" cy="310896"/>
          </a:xfrm>
          <a:prstGeom prst="rect">
            <a:avLst/>
          </a:prstGeom>
          <a:noFill/>
          <a:ln/>
        </p:spPr>
        <p:txBody>
          <a:bodyPr wrap="square" lIns="0" tIns="0" rIns="0" bIns="0" rtlCol="0" anchor="ctr"/>
          <a:lstStyle/>
          <a:p>
            <a:pPr indent="0" marL="0">
              <a:buNone/>
            </a:pPr>
            <a:r>
              <a:rPr lang="en-US" sz="1250" b="1" spc="300" kern="0" dirty="0">
                <a:solidFill>
                  <a:srgbClr val="D4761A"/>
                </a:solidFill>
                <a:latin typeface="Calibri" pitchFamily="34" charset="0"/>
                <a:ea typeface="Calibri" pitchFamily="34" charset="-122"/>
                <a:cs typeface="Calibri" pitchFamily="34" charset="-120"/>
              </a:rPr>
              <a:t>DSP391m  ·  REPORT 1  ·  PROJECT PROPOSAL</a:t>
            </a:r>
            <a:endParaRPr lang="en-US" sz="1250" dirty="0"/>
          </a:p>
        </p:txBody>
      </p:sp>
      <p:sp>
        <p:nvSpPr>
          <p:cNvPr id="3" name="Text 1"/>
          <p:cNvSpPr txBox="1"/>
          <p:nvPr/>
        </p:nvSpPr>
        <p:spPr>
          <a:xfrm>
            <a:off x="566928" y="1755648"/>
            <a:ext cx="9692640" cy="1554480"/>
          </a:xfrm>
          <a:prstGeom prst="rect">
            <a:avLst/>
          </a:prstGeom>
          <a:noFill/>
          <a:ln/>
        </p:spPr>
        <p:txBody>
          <a:bodyPr wrap="square" lIns="0" tIns="0" rIns="0" bIns="0" rtlCol="0" anchor="t"/>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Forecasting Flood Risk</a:t>
            </a:r>
            <a:endParaRPr lang="en-US" sz="4400" dirty="0"/>
          </a:p>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1–3 Days Ahead</a:t>
            </a:r>
            <a:endParaRPr lang="en-US" sz="4400" dirty="0"/>
          </a:p>
        </p:txBody>
      </p:sp>
      <p:sp>
        <p:nvSpPr>
          <p:cNvPr id="4" name="Text 2"/>
          <p:cNvSpPr txBox="1"/>
          <p:nvPr/>
        </p:nvSpPr>
        <p:spPr>
          <a:xfrm>
            <a:off x="566928" y="3346704"/>
            <a:ext cx="9692640" cy="402336"/>
          </a:xfrm>
          <a:prstGeom prst="rect">
            <a:avLst/>
          </a:prstGeom>
          <a:noFill/>
          <a:ln/>
        </p:spPr>
        <p:txBody>
          <a:bodyPr wrap="square" lIns="0" tIns="0" rIns="0" bIns="0" rtlCol="0" anchor="ctr"/>
          <a:lstStyle/>
          <a:p>
            <a:pPr indent="0" marL="0">
              <a:buNone/>
            </a:pPr>
            <a:r>
              <a:rPr lang="en-US" sz="2000" i="1" dirty="0">
                <a:solidFill>
                  <a:srgbClr val="9FC4D2"/>
                </a:solidFill>
                <a:latin typeface="Cambria" pitchFamily="34" charset="0"/>
                <a:ea typeface="Cambria" pitchFamily="34" charset="-122"/>
                <a:cs typeface="Cambria" pitchFamily="34" charset="-120"/>
              </a:rPr>
              <a:t>Huong River, Hue — from open hydro-meteorological data</a:t>
            </a:r>
            <a:endParaRPr lang="en-US" sz="2000" dirty="0"/>
          </a:p>
        </p:txBody>
      </p:sp>
      <p:sp>
        <p:nvSpPr>
          <p:cNvPr id="5" name="Shape 3"/>
          <p:cNvSpPr/>
          <p:nvPr/>
        </p:nvSpPr>
        <p:spPr>
          <a:xfrm>
            <a:off x="566928" y="3968496"/>
            <a:ext cx="2926080" cy="0"/>
          </a:xfrm>
          <a:prstGeom prst="line">
            <a:avLst/>
          </a:prstGeom>
          <a:noFill/>
          <a:ln w="25400">
            <a:solidFill>
              <a:srgbClr val="1D7A8C"/>
            </a:solidFill>
            <a:prstDash val="solid"/>
          </a:ln>
        </p:spPr>
      </p:sp>
      <p:sp>
        <p:nvSpPr>
          <p:cNvPr id="6" name="Text 4"/>
          <p:cNvSpPr txBox="1"/>
          <p:nvPr/>
        </p:nvSpPr>
        <p:spPr>
          <a:xfrm>
            <a:off x="566928" y="4224528"/>
            <a:ext cx="5852160" cy="82296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Team</a:t>
            </a:r>
            <a:endParaRPr lang="en-US" sz="1100" dirty="0"/>
          </a:p>
          <a:p>
            <a:pPr indent="0" marL="0">
              <a:buNone/>
            </a:pPr>
            <a:r>
              <a:rPr lang="en-US" sz="1450" dirty="0">
                <a:solidFill>
                  <a:srgbClr val="FFFFFF"/>
                </a:solidFill>
                <a:latin typeface="Calibri" pitchFamily="34" charset="0"/>
                <a:ea typeface="Calibri" pitchFamily="34" charset="-122"/>
                <a:cs typeface="Calibri" pitchFamily="34" charset="-120"/>
              </a:rPr>
              <a:t>Dang Nguyen Giap  ·  Hoang Anh Duc  ·  Le Thi Huyen</a:t>
            </a:r>
            <a:endParaRPr lang="en-US" sz="1100" dirty="0"/>
          </a:p>
        </p:txBody>
      </p:sp>
      <p:sp>
        <p:nvSpPr>
          <p:cNvPr id="7" name="Text 5"/>
          <p:cNvSpPr txBox="1"/>
          <p:nvPr/>
        </p:nvSpPr>
        <p:spPr>
          <a:xfrm>
            <a:off x="6675120" y="4224528"/>
            <a:ext cx="4937760" cy="82296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Gauging station</a:t>
            </a:r>
            <a:endParaRPr lang="en-US" sz="1100" dirty="0"/>
          </a:p>
          <a:p>
            <a:pPr indent="0" marL="0">
              <a:buNone/>
            </a:pPr>
            <a:r>
              <a:rPr lang="en-US" sz="1450" dirty="0">
                <a:solidFill>
                  <a:srgbClr val="FFFFFF"/>
                </a:solidFill>
                <a:latin typeface="Calibri" pitchFamily="34" charset="0"/>
                <a:ea typeface="Calibri" pitchFamily="34" charset="-122"/>
                <a:cs typeface="Calibri" pitchFamily="34" charset="-120"/>
              </a:rPr>
              <a:t>Kim Long  ·  GloFAS cell 16.45 N, 107.50 E</a:t>
            </a:r>
            <a:endParaRPr lang="en-US" sz="1100" dirty="0"/>
          </a:p>
        </p:txBody>
      </p:sp>
      <p:sp>
        <p:nvSpPr>
          <p:cNvPr id="8" name="Text 6"/>
          <p:cNvSpPr txBox="1"/>
          <p:nvPr/>
        </p:nvSpPr>
        <p:spPr>
          <a:xfrm>
            <a:off x="566928" y="5943600"/>
            <a:ext cx="5486400" cy="27432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Week 2 · 17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SUBJECT &amp; CONTEXT</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Why the Huong River basin</a:t>
            </a:r>
            <a:endParaRPr lang="en-US" sz="3800" dirty="0"/>
          </a:p>
        </p:txBody>
      </p:sp>
      <p:sp>
        <p:nvSpPr>
          <p:cNvPr id="4" name="Text 2"/>
          <p:cNvSpPr txBox="1"/>
          <p:nvPr/>
        </p:nvSpPr>
        <p:spPr>
          <a:xfrm>
            <a:off x="566928" y="1463040"/>
            <a:ext cx="6537960" cy="23774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10222C"/>
                </a:solidFill>
                <a:latin typeface="Calibri" pitchFamily="34" charset="0"/>
                <a:ea typeface="Calibri" pitchFamily="34" charset="-122"/>
                <a:cs typeface="Calibri" pitchFamily="34" charset="-120"/>
              </a:rPr>
              <a:t>Central Vietnam is the country's most flood-affected region; Hue sits on a short, steep basin where floods rise within a day.</a:t>
            </a:r>
            <a:endParaRPr lang="en-US" sz="1450" dirty="0"/>
          </a:p>
          <a:p>
            <a:pPr marL="342900" indent="-342900">
              <a:spcAft>
                <a:spcPts val="900"/>
              </a:spcAft>
              <a:buSzPct val="100000"/>
              <a:buChar char="•"/>
            </a:pPr>
            <a:r>
              <a:rPr lang="en-US" sz="1450" dirty="0">
                <a:solidFill>
                  <a:srgbClr val="10222C"/>
                </a:solidFill>
                <a:latin typeface="Calibri" pitchFamily="34" charset="0"/>
                <a:ea typeface="Calibri" pitchFamily="34" charset="-122"/>
                <a:cs typeface="Calibri" pitchFamily="34" charset="-120"/>
              </a:rPr>
              <a:t>Riverside communes suffer repeated damage, yet local gauging and commune-level warning remain sparse.</a:t>
            </a:r>
            <a:endParaRPr lang="en-US" sz="1450" dirty="0"/>
          </a:p>
          <a:p>
            <a:pPr marL="342900" indent="-342900">
              <a:spcAft>
                <a:spcPts val="900"/>
              </a:spcAft>
              <a:buSzPct val="100000"/>
              <a:buChar char="•"/>
            </a:pPr>
            <a:r>
              <a:rPr lang="en-US" sz="1450" dirty="0">
                <a:solidFill>
                  <a:srgbClr val="10222C"/>
                </a:solidFill>
                <a:latin typeface="Calibri" pitchFamily="34" charset="0"/>
                <a:ea typeface="Calibri" pitchFamily="34" charset="-122"/>
                <a:cs typeface="Calibri" pitchFamily="34" charset="-120"/>
              </a:rPr>
              <a:t>Official alerts are issued as water-level stages BĐ I / II / III — the language local authorities already act on.</a:t>
            </a:r>
            <a:endParaRPr lang="en-US" sz="1450" dirty="0"/>
          </a:p>
          <a:p>
            <a:pPr marL="342900" indent="-342900">
              <a:spcAft>
                <a:spcPts val="900"/>
              </a:spcAft>
              <a:buSzPct val="100000"/>
              <a:buChar char="•"/>
            </a:pPr>
            <a:r>
              <a:rPr lang="en-US" sz="1450" dirty="0">
                <a:solidFill>
                  <a:srgbClr val="10222C"/>
                </a:solidFill>
                <a:latin typeface="Calibri" pitchFamily="34" charset="0"/>
                <a:ea typeface="Calibri" pitchFamily="34" charset="-122"/>
                <a:cs typeface="Calibri" pitchFamily="34" charset="-120"/>
              </a:rPr>
              <a:t>Open global datasets now cover this basin at daily resolution, free and without an API key.</a:t>
            </a:r>
            <a:endParaRPr lang="en-US" sz="1450" dirty="0"/>
          </a:p>
        </p:txBody>
      </p:sp>
      <p:sp>
        <p:nvSpPr>
          <p:cNvPr id="5" name="Text 3"/>
          <p:cNvSpPr txBox="1"/>
          <p:nvPr/>
        </p:nvSpPr>
        <p:spPr>
          <a:xfrm>
            <a:off x="566928" y="3977640"/>
            <a:ext cx="6537960" cy="292608"/>
          </a:xfrm>
          <a:prstGeom prst="rect">
            <a:avLst/>
          </a:prstGeom>
          <a:noFill/>
          <a:ln/>
        </p:spPr>
        <p:txBody>
          <a:bodyPr wrap="square" lIns="0" tIns="0" rIns="0" bIns="0" rtlCol="0" anchor="ctr"/>
          <a:lstStyle/>
          <a:p>
            <a:pPr indent="0" marL="0">
              <a:buNone/>
            </a:pPr>
            <a:r>
              <a:rPr lang="en-US" sz="1300" b="1" spc="100" kern="0" dirty="0">
                <a:solidFill>
                  <a:srgbClr val="1D7A8C"/>
                </a:solidFill>
                <a:latin typeface="Calibri" pitchFamily="34" charset="0"/>
                <a:ea typeface="Calibri" pitchFamily="34" charset="-122"/>
                <a:cs typeface="Calibri" pitchFamily="34" charset="-120"/>
              </a:rPr>
              <a:t>Research questions</a:t>
            </a:r>
            <a:endParaRPr lang="en-US" sz="1300" dirty="0"/>
          </a:p>
        </p:txBody>
      </p:sp>
      <p:sp>
        <p:nvSpPr>
          <p:cNvPr id="6" name="Text 4"/>
          <p:cNvSpPr txBox="1"/>
          <p:nvPr/>
        </p:nvSpPr>
        <p:spPr>
          <a:xfrm>
            <a:off x="566928" y="4297680"/>
            <a:ext cx="653796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0222C"/>
                </a:solidFill>
                <a:latin typeface="Calibri" pitchFamily="34" charset="0"/>
                <a:ea typeface="Calibri" pitchFamily="34" charset="-122"/>
                <a:cs typeface="Calibri" pitchFamily="34" charset="-120"/>
              </a:rPr>
              <a:t>Can river discharge be predicted 1, 2 and 3 days ahead from gridded rainfall and past discharge — and at what error?</a:t>
            </a:r>
            <a:endParaRPr lang="en-US" sz="1300" dirty="0"/>
          </a:p>
          <a:p>
            <a:pPr marL="342900" indent="-342900">
              <a:spcAft>
                <a:spcPts val="700"/>
              </a:spcAft>
              <a:buSzPct val="100000"/>
              <a:buChar char="•"/>
            </a:pPr>
            <a:r>
              <a:rPr lang="en-US" sz="1300" dirty="0">
                <a:solidFill>
                  <a:srgbClr val="10222C"/>
                </a:solidFill>
                <a:latin typeface="Calibri" pitchFamily="34" charset="0"/>
                <a:ea typeface="Calibri" pitchFamily="34" charset="-122"/>
                <a:cs typeface="Calibri" pitchFamily="34" charset="-120"/>
              </a:rPr>
              <a:t>How well can a classifier flag days that exceed an official flood-alert stage?</a:t>
            </a:r>
            <a:endParaRPr lang="en-US" sz="1300" dirty="0"/>
          </a:p>
          <a:p>
            <a:pPr marL="342900" indent="-342900">
              <a:spcAft>
                <a:spcPts val="700"/>
              </a:spcAft>
              <a:buSzPct val="100000"/>
              <a:buChar char="•"/>
            </a:pPr>
            <a:r>
              <a:rPr lang="en-US" sz="1300" dirty="0">
                <a:solidFill>
                  <a:srgbClr val="10222C"/>
                </a:solidFill>
                <a:latin typeface="Calibri" pitchFamily="34" charset="0"/>
                <a:ea typeface="Calibri" pitchFamily="34" charset="-122"/>
                <a:cs typeface="Calibri" pitchFamily="34" charset="-120"/>
              </a:rPr>
              <a:t>Which sub-basins carry the highest seasonal risk?</a:t>
            </a:r>
            <a:endParaRPr lang="en-US" sz="1300" dirty="0"/>
          </a:p>
        </p:txBody>
      </p:sp>
      <p:sp>
        <p:nvSpPr>
          <p:cNvPr id="7" name="Shape 5"/>
          <p:cNvSpPr/>
          <p:nvPr/>
        </p:nvSpPr>
        <p:spPr>
          <a:xfrm>
            <a:off x="7498080" y="1463040"/>
            <a:ext cx="4114800" cy="4297680"/>
          </a:xfrm>
          <a:prstGeom prst="roundRect">
            <a:avLst>
              <a:gd name="adj" fmla="val 1778"/>
            </a:avLst>
          </a:prstGeom>
          <a:solidFill>
            <a:srgbClr val="F4F7F8"/>
          </a:solidFill>
          <a:ln w="9525">
            <a:solidFill>
              <a:srgbClr val="D6E0E4"/>
            </a:solidFill>
            <a:prstDash val="solid"/>
          </a:ln>
        </p:spPr>
      </p:sp>
      <p:sp>
        <p:nvSpPr>
          <p:cNvPr id="8" name="Text 6"/>
          <p:cNvSpPr txBox="1"/>
          <p:nvPr/>
        </p:nvSpPr>
        <p:spPr>
          <a:xfrm>
            <a:off x="7735824" y="1664208"/>
            <a:ext cx="3657600" cy="292608"/>
          </a:xfrm>
          <a:prstGeom prst="rect">
            <a:avLst/>
          </a:prstGeom>
          <a:noFill/>
          <a:ln/>
        </p:spPr>
        <p:txBody>
          <a:bodyPr wrap="square" lIns="0" tIns="0" rIns="0" bIns="0" rtlCol="0" anchor="ctr"/>
          <a:lstStyle/>
          <a:p>
            <a:pPr indent="0" marL="0">
              <a:buNone/>
            </a:pPr>
            <a:r>
              <a:rPr lang="en-US" sz="1250" b="1" dirty="0">
                <a:solidFill>
                  <a:srgbClr val="0B3C5D"/>
                </a:solidFill>
                <a:latin typeface="Calibri" pitchFamily="34" charset="0"/>
                <a:ea typeface="Calibri" pitchFamily="34" charset="-122"/>
                <a:cs typeface="Calibri" pitchFamily="34" charset="-120"/>
              </a:rPr>
              <a:t>Official alert stages</a:t>
            </a:r>
            <a:endParaRPr lang="en-US" sz="1250" dirty="0"/>
          </a:p>
        </p:txBody>
      </p:sp>
      <p:sp>
        <p:nvSpPr>
          <p:cNvPr id="9" name="Text 7"/>
          <p:cNvSpPr txBox="1"/>
          <p:nvPr/>
        </p:nvSpPr>
        <p:spPr>
          <a:xfrm>
            <a:off x="7735824" y="1938528"/>
            <a:ext cx="3657600" cy="274320"/>
          </a:xfrm>
          <a:prstGeom prst="rect">
            <a:avLst/>
          </a:prstGeom>
          <a:noFill/>
          <a:ln/>
        </p:spPr>
        <p:txBody>
          <a:bodyPr wrap="square" lIns="0" tIns="0" rIns="0" bIns="0" rtlCol="0" anchor="ctr"/>
          <a:lstStyle/>
          <a:p>
            <a:pPr indent="0" marL="0">
              <a:buNone/>
            </a:pPr>
            <a:r>
              <a:rPr lang="en-US" sz="1000" dirty="0">
                <a:solidFill>
                  <a:srgbClr val="6E8A98"/>
                </a:solidFill>
                <a:latin typeface="Calibri" pitchFamily="34" charset="0"/>
                <a:ea typeface="Calibri" pitchFamily="34" charset="-122"/>
                <a:cs typeface="Calibri" pitchFamily="34" charset="-120"/>
              </a:rPr>
              <a:t>Kim Long station · water level above datum</a:t>
            </a:r>
            <a:endParaRPr lang="en-US" sz="1000" dirty="0"/>
          </a:p>
        </p:txBody>
      </p:sp>
      <p:sp>
        <p:nvSpPr>
          <p:cNvPr id="10" name="Text 8"/>
          <p:cNvSpPr txBox="1"/>
          <p:nvPr/>
        </p:nvSpPr>
        <p:spPr>
          <a:xfrm>
            <a:off x="7735824" y="2395728"/>
            <a:ext cx="777240" cy="274320"/>
          </a:xfrm>
          <a:prstGeom prst="rect">
            <a:avLst/>
          </a:prstGeom>
          <a:noFill/>
          <a:ln/>
        </p:spPr>
        <p:txBody>
          <a:bodyPr wrap="square" lIns="0" tIns="0" rIns="0" bIns="0" rtlCol="0" anchor="ctr"/>
          <a:lstStyle/>
          <a:p>
            <a:pPr indent="0" marL="0">
              <a:buNone/>
            </a:pPr>
            <a:r>
              <a:rPr lang="en-US" sz="1300" b="1" dirty="0">
                <a:solidFill>
                  <a:srgbClr val="10222C"/>
                </a:solidFill>
                <a:latin typeface="Cambria" pitchFamily="34" charset="0"/>
                <a:ea typeface="Cambria" pitchFamily="34" charset="-122"/>
                <a:cs typeface="Cambria" pitchFamily="34" charset="-120"/>
              </a:rPr>
              <a:t>BĐ I</a:t>
            </a:r>
            <a:endParaRPr lang="en-US" sz="1300" dirty="0"/>
          </a:p>
        </p:txBody>
      </p:sp>
      <p:sp>
        <p:nvSpPr>
          <p:cNvPr id="11" name="Shape 9"/>
          <p:cNvSpPr/>
          <p:nvPr/>
        </p:nvSpPr>
        <p:spPr>
          <a:xfrm>
            <a:off x="8540496" y="2459736"/>
            <a:ext cx="1920240" cy="155448"/>
          </a:xfrm>
          <a:prstGeom prst="roundRect">
            <a:avLst>
              <a:gd name="adj" fmla="val 23529"/>
            </a:avLst>
          </a:prstGeom>
          <a:solidFill>
            <a:srgbClr val="DCE7EA"/>
          </a:solidFill>
          <a:ln w="12700">
            <a:solidFill>
              <a:srgbClr val="333333"/>
            </a:solidFill>
            <a:prstDash val="solid"/>
          </a:ln>
        </p:spPr>
      </p:sp>
      <p:sp>
        <p:nvSpPr>
          <p:cNvPr id="12" name="Shape 10"/>
          <p:cNvSpPr/>
          <p:nvPr/>
        </p:nvSpPr>
        <p:spPr>
          <a:xfrm>
            <a:off x="8540496" y="2459736"/>
            <a:ext cx="576072" cy="155448"/>
          </a:xfrm>
          <a:prstGeom prst="roundRect">
            <a:avLst>
              <a:gd name="adj" fmla="val 23529"/>
            </a:avLst>
          </a:prstGeom>
          <a:solidFill>
            <a:srgbClr val="1D7A8C"/>
          </a:solidFill>
          <a:ln w="12700">
            <a:solidFill>
              <a:srgbClr val="333333"/>
            </a:solidFill>
            <a:prstDash val="solid"/>
          </a:ln>
        </p:spPr>
      </p:sp>
      <p:sp>
        <p:nvSpPr>
          <p:cNvPr id="13" name="Text 11"/>
          <p:cNvSpPr txBox="1"/>
          <p:nvPr/>
        </p:nvSpPr>
        <p:spPr>
          <a:xfrm>
            <a:off x="10515600" y="2395728"/>
            <a:ext cx="868680" cy="274320"/>
          </a:xfrm>
          <a:prstGeom prst="rect">
            <a:avLst/>
          </a:prstGeom>
          <a:noFill/>
          <a:ln/>
        </p:spPr>
        <p:txBody>
          <a:bodyPr wrap="square" lIns="0" tIns="0" rIns="0" bIns="0" rtlCol="0" anchor="ctr"/>
          <a:lstStyle/>
          <a:p>
            <a:pPr algn="r" indent="0" marL="0">
              <a:buNone/>
            </a:pPr>
            <a:r>
              <a:rPr lang="en-US" sz="1250" dirty="0">
                <a:solidFill>
                  <a:srgbClr val="0B3C5D"/>
                </a:solidFill>
                <a:latin typeface="Cambria" pitchFamily="34" charset="0"/>
                <a:ea typeface="Cambria" pitchFamily="34" charset="-122"/>
                <a:cs typeface="Cambria" pitchFamily="34" charset="-120"/>
              </a:rPr>
              <a:t>1.00 m</a:t>
            </a:r>
            <a:endParaRPr lang="en-US" sz="1250" dirty="0"/>
          </a:p>
        </p:txBody>
      </p:sp>
      <p:sp>
        <p:nvSpPr>
          <p:cNvPr id="14" name="Text 12"/>
          <p:cNvSpPr txBox="1"/>
          <p:nvPr/>
        </p:nvSpPr>
        <p:spPr>
          <a:xfrm>
            <a:off x="7735824" y="3054096"/>
            <a:ext cx="777240" cy="274320"/>
          </a:xfrm>
          <a:prstGeom prst="rect">
            <a:avLst/>
          </a:prstGeom>
          <a:noFill/>
          <a:ln/>
        </p:spPr>
        <p:txBody>
          <a:bodyPr wrap="square" lIns="0" tIns="0" rIns="0" bIns="0" rtlCol="0" anchor="ctr"/>
          <a:lstStyle/>
          <a:p>
            <a:pPr indent="0" marL="0">
              <a:buNone/>
            </a:pPr>
            <a:r>
              <a:rPr lang="en-US" sz="1300" b="1" dirty="0">
                <a:solidFill>
                  <a:srgbClr val="10222C"/>
                </a:solidFill>
                <a:latin typeface="Cambria" pitchFamily="34" charset="0"/>
                <a:ea typeface="Cambria" pitchFamily="34" charset="-122"/>
                <a:cs typeface="Cambria" pitchFamily="34" charset="-120"/>
              </a:rPr>
              <a:t>BĐ II</a:t>
            </a:r>
            <a:endParaRPr lang="en-US" sz="1300" dirty="0"/>
          </a:p>
        </p:txBody>
      </p:sp>
      <p:sp>
        <p:nvSpPr>
          <p:cNvPr id="15" name="Shape 13"/>
          <p:cNvSpPr/>
          <p:nvPr/>
        </p:nvSpPr>
        <p:spPr>
          <a:xfrm>
            <a:off x="8540496" y="3118104"/>
            <a:ext cx="1920240" cy="155448"/>
          </a:xfrm>
          <a:prstGeom prst="roundRect">
            <a:avLst>
              <a:gd name="adj" fmla="val 23529"/>
            </a:avLst>
          </a:prstGeom>
          <a:solidFill>
            <a:srgbClr val="DCE7EA"/>
          </a:solidFill>
          <a:ln w="12700">
            <a:solidFill>
              <a:srgbClr val="333333"/>
            </a:solidFill>
            <a:prstDash val="solid"/>
          </a:ln>
        </p:spPr>
      </p:sp>
      <p:sp>
        <p:nvSpPr>
          <p:cNvPr id="16" name="Shape 14"/>
          <p:cNvSpPr/>
          <p:nvPr/>
        </p:nvSpPr>
        <p:spPr>
          <a:xfrm>
            <a:off x="8540496" y="3118104"/>
            <a:ext cx="1094537" cy="155448"/>
          </a:xfrm>
          <a:prstGeom prst="roundRect">
            <a:avLst>
              <a:gd name="adj" fmla="val 23529"/>
            </a:avLst>
          </a:prstGeom>
          <a:solidFill>
            <a:srgbClr val="1D7A8C"/>
          </a:solidFill>
          <a:ln w="12700">
            <a:solidFill>
              <a:srgbClr val="333333"/>
            </a:solidFill>
            <a:prstDash val="solid"/>
          </a:ln>
        </p:spPr>
      </p:sp>
      <p:sp>
        <p:nvSpPr>
          <p:cNvPr id="17" name="Text 15"/>
          <p:cNvSpPr txBox="1"/>
          <p:nvPr/>
        </p:nvSpPr>
        <p:spPr>
          <a:xfrm>
            <a:off x="10515600" y="3054096"/>
            <a:ext cx="868680" cy="274320"/>
          </a:xfrm>
          <a:prstGeom prst="rect">
            <a:avLst/>
          </a:prstGeom>
          <a:noFill/>
          <a:ln/>
        </p:spPr>
        <p:txBody>
          <a:bodyPr wrap="square" lIns="0" tIns="0" rIns="0" bIns="0" rtlCol="0" anchor="ctr"/>
          <a:lstStyle/>
          <a:p>
            <a:pPr algn="r" indent="0" marL="0">
              <a:buNone/>
            </a:pPr>
            <a:r>
              <a:rPr lang="en-US" sz="1250" dirty="0">
                <a:solidFill>
                  <a:srgbClr val="0B3C5D"/>
                </a:solidFill>
                <a:latin typeface="Cambria" pitchFamily="34" charset="0"/>
                <a:ea typeface="Cambria" pitchFamily="34" charset="-122"/>
                <a:cs typeface="Cambria" pitchFamily="34" charset="-120"/>
              </a:rPr>
              <a:t>2.00 m</a:t>
            </a:r>
            <a:endParaRPr lang="en-US" sz="1250" dirty="0"/>
          </a:p>
        </p:txBody>
      </p:sp>
      <p:sp>
        <p:nvSpPr>
          <p:cNvPr id="18" name="Text 16"/>
          <p:cNvSpPr txBox="1"/>
          <p:nvPr/>
        </p:nvSpPr>
        <p:spPr>
          <a:xfrm>
            <a:off x="7735824" y="3712464"/>
            <a:ext cx="777240" cy="274320"/>
          </a:xfrm>
          <a:prstGeom prst="rect">
            <a:avLst/>
          </a:prstGeom>
          <a:noFill/>
          <a:ln/>
        </p:spPr>
        <p:txBody>
          <a:bodyPr wrap="square" lIns="0" tIns="0" rIns="0" bIns="0" rtlCol="0" anchor="ctr"/>
          <a:lstStyle/>
          <a:p>
            <a:pPr indent="0" marL="0">
              <a:buNone/>
            </a:pPr>
            <a:r>
              <a:rPr lang="en-US" sz="1300" b="1" dirty="0">
                <a:solidFill>
                  <a:srgbClr val="10222C"/>
                </a:solidFill>
                <a:latin typeface="Cambria" pitchFamily="34" charset="0"/>
                <a:ea typeface="Cambria" pitchFamily="34" charset="-122"/>
                <a:cs typeface="Cambria" pitchFamily="34" charset="-120"/>
              </a:rPr>
              <a:t>BĐ III</a:t>
            </a:r>
            <a:endParaRPr lang="en-US" sz="1300" dirty="0"/>
          </a:p>
        </p:txBody>
      </p:sp>
      <p:sp>
        <p:nvSpPr>
          <p:cNvPr id="19" name="Shape 17"/>
          <p:cNvSpPr/>
          <p:nvPr/>
        </p:nvSpPr>
        <p:spPr>
          <a:xfrm>
            <a:off x="8540496" y="3776472"/>
            <a:ext cx="1920240" cy="155448"/>
          </a:xfrm>
          <a:prstGeom prst="roundRect">
            <a:avLst>
              <a:gd name="adj" fmla="val 23529"/>
            </a:avLst>
          </a:prstGeom>
          <a:solidFill>
            <a:srgbClr val="DCE7EA"/>
          </a:solidFill>
          <a:ln w="12700">
            <a:solidFill>
              <a:srgbClr val="333333"/>
            </a:solidFill>
            <a:prstDash val="solid"/>
          </a:ln>
        </p:spPr>
      </p:sp>
      <p:sp>
        <p:nvSpPr>
          <p:cNvPr id="20" name="Shape 18"/>
          <p:cNvSpPr/>
          <p:nvPr/>
        </p:nvSpPr>
        <p:spPr>
          <a:xfrm>
            <a:off x="8540496" y="3776472"/>
            <a:ext cx="1920240" cy="155448"/>
          </a:xfrm>
          <a:prstGeom prst="roundRect">
            <a:avLst>
              <a:gd name="adj" fmla="val 23529"/>
            </a:avLst>
          </a:prstGeom>
          <a:solidFill>
            <a:srgbClr val="D4761A"/>
          </a:solidFill>
          <a:ln w="12700">
            <a:solidFill>
              <a:srgbClr val="333333"/>
            </a:solidFill>
            <a:prstDash val="solid"/>
          </a:ln>
        </p:spPr>
      </p:sp>
      <p:sp>
        <p:nvSpPr>
          <p:cNvPr id="21" name="Text 19"/>
          <p:cNvSpPr txBox="1"/>
          <p:nvPr/>
        </p:nvSpPr>
        <p:spPr>
          <a:xfrm>
            <a:off x="10515600" y="3712464"/>
            <a:ext cx="868680" cy="274320"/>
          </a:xfrm>
          <a:prstGeom prst="rect">
            <a:avLst/>
          </a:prstGeom>
          <a:noFill/>
          <a:ln/>
        </p:spPr>
        <p:txBody>
          <a:bodyPr wrap="square" lIns="0" tIns="0" rIns="0" bIns="0" rtlCol="0" anchor="ctr"/>
          <a:lstStyle/>
          <a:p>
            <a:pPr algn="r" indent="0" marL="0">
              <a:buNone/>
            </a:pPr>
            <a:r>
              <a:rPr lang="en-US" sz="1250" dirty="0">
                <a:solidFill>
                  <a:srgbClr val="0B3C5D"/>
                </a:solidFill>
                <a:latin typeface="Cambria" pitchFamily="34" charset="0"/>
                <a:ea typeface="Cambria" pitchFamily="34" charset="-122"/>
                <a:cs typeface="Cambria" pitchFamily="34" charset="-120"/>
              </a:rPr>
              <a:t>3.50 m</a:t>
            </a:r>
            <a:endParaRPr lang="en-US" sz="1250" dirty="0"/>
          </a:p>
        </p:txBody>
      </p:sp>
      <p:sp>
        <p:nvSpPr>
          <p:cNvPr id="22" name="Text 20"/>
          <p:cNvSpPr txBox="1"/>
          <p:nvPr/>
        </p:nvSpPr>
        <p:spPr>
          <a:xfrm>
            <a:off x="7735824" y="4572000"/>
            <a:ext cx="3657600" cy="1005840"/>
          </a:xfrm>
          <a:prstGeom prst="rect">
            <a:avLst/>
          </a:prstGeom>
          <a:noFill/>
          <a:ln/>
        </p:spPr>
        <p:txBody>
          <a:bodyPr wrap="square" lIns="0" tIns="0" rIns="0" bIns="0" rtlCol="0" anchor="t"/>
          <a:lstStyle/>
          <a:p>
            <a:pPr indent="0" marL="0">
              <a:buNone/>
            </a:pPr>
            <a:r>
              <a:rPr lang="en-US" sz="1050" dirty="0">
                <a:solidFill>
                  <a:srgbClr val="6E8A98"/>
                </a:solidFill>
                <a:latin typeface="Calibri" pitchFamily="34" charset="0"/>
                <a:ea typeface="Calibri" pitchFamily="34" charset="-122"/>
                <a:cs typeface="Calibri" pitchFamily="34" charset="-120"/>
              </a:rPr>
              <a:t>Decision 05/2020/QD-TTg. Cross-checked against five bulletins of the Hue Hydro-Meteorological Station.</a:t>
            </a:r>
            <a:endParaRPr lang="en-US" sz="1050" dirty="0"/>
          </a:p>
        </p:txBody>
      </p:sp>
      <p:sp>
        <p:nvSpPr>
          <p:cNvPr id="23" name="Text 21"/>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CONTEXT OF BIG DATA</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What makes this a data problem</a:t>
            </a:r>
            <a:endParaRPr lang="en-US" sz="3800" dirty="0"/>
          </a:p>
        </p:txBody>
      </p:sp>
      <p:sp>
        <p:nvSpPr>
          <p:cNvPr id="4" name="Text 2"/>
          <p:cNvSpPr txBox="1"/>
          <p:nvPr/>
        </p:nvSpPr>
        <p:spPr>
          <a:xfrm>
            <a:off x="566928" y="1389888"/>
            <a:ext cx="10058400" cy="457200"/>
          </a:xfrm>
          <a:prstGeom prst="rect">
            <a:avLst/>
          </a:prstGeom>
          <a:noFill/>
          <a:ln/>
        </p:spPr>
        <p:txBody>
          <a:bodyPr wrap="square" lIns="0" tIns="0" rIns="0" bIns="0" rtlCol="0" anchor="ctr"/>
          <a:lstStyle/>
          <a:p>
            <a:pPr indent="0" marL="0">
              <a:buNone/>
            </a:pPr>
            <a:r>
              <a:rPr lang="en-US" sz="1350" dirty="0">
                <a:solidFill>
                  <a:srgbClr val="6E8A98"/>
                </a:solidFill>
                <a:latin typeface="Calibri" pitchFamily="34" charset="0"/>
                <a:ea typeface="Calibri" pitchFamily="34" charset="-122"/>
                <a:cs typeface="Calibri" pitchFamily="34" charset="-120"/>
              </a:rPr>
              <a:t>Volume alone does not define big data. This project meets four of the classic dimensions — each with a concrete figure from the data we have already collected.</a:t>
            </a:r>
            <a:endParaRPr lang="en-US" sz="1350" dirty="0"/>
          </a:p>
        </p:txBody>
      </p:sp>
      <p:sp>
        <p:nvSpPr>
          <p:cNvPr id="5" name="Shape 3"/>
          <p:cNvSpPr/>
          <p:nvPr/>
        </p:nvSpPr>
        <p:spPr>
          <a:xfrm>
            <a:off x="566928" y="2093976"/>
            <a:ext cx="329184" cy="329184"/>
          </a:xfrm>
          <a:prstGeom prst="ellipse">
            <a:avLst/>
          </a:prstGeom>
          <a:solidFill>
            <a:srgbClr val="0B3C5D"/>
          </a:solidFill>
          <a:ln/>
        </p:spPr>
      </p:sp>
      <p:sp>
        <p:nvSpPr>
          <p:cNvPr id="6" name="Text 4"/>
          <p:cNvSpPr txBox="1"/>
          <p:nvPr/>
        </p:nvSpPr>
        <p:spPr>
          <a:xfrm>
            <a:off x="1042416" y="2057400"/>
            <a:ext cx="4846320" cy="310896"/>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Volume</a:t>
            </a:r>
            <a:endParaRPr lang="en-US" sz="1700" dirty="0"/>
          </a:p>
        </p:txBody>
      </p:sp>
      <p:sp>
        <p:nvSpPr>
          <p:cNvPr id="7" name="Text 5"/>
          <p:cNvSpPr txBox="1"/>
          <p:nvPr/>
        </p:nvSpPr>
        <p:spPr>
          <a:xfrm>
            <a:off x="1042416" y="2404872"/>
            <a:ext cx="4846320" cy="914400"/>
          </a:xfrm>
          <a:prstGeom prst="rect">
            <a:avLst/>
          </a:prstGeom>
          <a:noFill/>
          <a:ln/>
        </p:spPr>
        <p:txBody>
          <a:bodyPr wrap="square" lIns="0" tIns="0" rIns="0" bIns="0" rtlCol="0" anchor="t"/>
          <a:lstStyle/>
          <a:p>
            <a:pPr indent="0" marL="0">
              <a:buNone/>
            </a:pPr>
            <a:r>
              <a:rPr lang="en-US" sz="1250" dirty="0">
                <a:solidFill>
                  <a:srgbClr val="10222C"/>
                </a:solidFill>
                <a:latin typeface="Calibri" pitchFamily="34" charset="0"/>
                <a:ea typeface="Calibri" pitchFamily="34" charset="-122"/>
                <a:cs typeface="Calibri" pitchFamily="34" charset="-120"/>
              </a:rPr>
              <a:t>42 years of daily discharge and 11 years of hourly rainfall across 68 grid points — about 1,500 Parquet files.</a:t>
            </a:r>
            <a:endParaRPr lang="en-US" sz="1250" dirty="0"/>
          </a:p>
        </p:txBody>
      </p:sp>
      <p:sp>
        <p:nvSpPr>
          <p:cNvPr id="8" name="Shape 6"/>
          <p:cNvSpPr/>
          <p:nvPr/>
        </p:nvSpPr>
        <p:spPr>
          <a:xfrm>
            <a:off x="6144768" y="2093976"/>
            <a:ext cx="329184" cy="329184"/>
          </a:xfrm>
          <a:prstGeom prst="ellipse">
            <a:avLst/>
          </a:prstGeom>
          <a:solidFill>
            <a:srgbClr val="1D7A8C"/>
          </a:solidFill>
          <a:ln/>
        </p:spPr>
      </p:sp>
      <p:sp>
        <p:nvSpPr>
          <p:cNvPr id="9" name="Text 7"/>
          <p:cNvSpPr txBox="1"/>
          <p:nvPr/>
        </p:nvSpPr>
        <p:spPr>
          <a:xfrm>
            <a:off x="6620256" y="2057400"/>
            <a:ext cx="4846320" cy="310896"/>
          </a:xfrm>
          <a:prstGeom prst="rect">
            <a:avLst/>
          </a:prstGeom>
          <a:noFill/>
          <a:ln/>
        </p:spPr>
        <p:txBody>
          <a:bodyPr wrap="square" lIns="0" tIns="0" rIns="0" bIns="0" rtlCol="0" anchor="ctr"/>
          <a:lstStyle/>
          <a:p>
            <a:pPr indent="0" marL="0">
              <a:buNone/>
            </a:pPr>
            <a:r>
              <a:rPr lang="en-US" sz="1700" b="1" dirty="0">
                <a:solidFill>
                  <a:srgbClr val="1D7A8C"/>
                </a:solidFill>
                <a:latin typeface="Cambria" pitchFamily="34" charset="0"/>
                <a:ea typeface="Cambria" pitchFamily="34" charset="-122"/>
                <a:cs typeface="Cambria" pitchFamily="34" charset="-120"/>
              </a:rPr>
              <a:t>Variety</a:t>
            </a:r>
            <a:endParaRPr lang="en-US" sz="1700" dirty="0"/>
          </a:p>
        </p:txBody>
      </p:sp>
      <p:sp>
        <p:nvSpPr>
          <p:cNvPr id="10" name="Text 8"/>
          <p:cNvSpPr txBox="1"/>
          <p:nvPr/>
        </p:nvSpPr>
        <p:spPr>
          <a:xfrm>
            <a:off x="6620256" y="2404872"/>
            <a:ext cx="4846320" cy="914400"/>
          </a:xfrm>
          <a:prstGeom prst="rect">
            <a:avLst/>
          </a:prstGeom>
          <a:noFill/>
          <a:ln/>
        </p:spPr>
        <p:txBody>
          <a:bodyPr wrap="square" lIns="0" tIns="0" rIns="0" bIns="0" rtlCol="0" anchor="t"/>
          <a:lstStyle/>
          <a:p>
            <a:pPr indent="0" marL="0">
              <a:buNone/>
            </a:pPr>
            <a:r>
              <a:rPr lang="en-US" sz="1250" dirty="0">
                <a:solidFill>
                  <a:srgbClr val="10222C"/>
                </a:solidFill>
                <a:latin typeface="Calibri" pitchFamily="34" charset="0"/>
                <a:ea typeface="Calibri" pitchFamily="34" charset="-122"/>
                <a:cs typeface="Calibri" pitchFamily="34" charset="-120"/>
              </a:rPr>
              <a:t>Simulated discharge, reanalysis rainfall, archived rainfall forecasts, river geometry, legal thresholds and news bulletins.</a:t>
            </a:r>
            <a:endParaRPr lang="en-US" sz="1250" dirty="0"/>
          </a:p>
        </p:txBody>
      </p:sp>
      <p:sp>
        <p:nvSpPr>
          <p:cNvPr id="11" name="Shape 9"/>
          <p:cNvSpPr/>
          <p:nvPr/>
        </p:nvSpPr>
        <p:spPr>
          <a:xfrm>
            <a:off x="566928" y="3575304"/>
            <a:ext cx="329184" cy="329184"/>
          </a:xfrm>
          <a:prstGeom prst="ellipse">
            <a:avLst/>
          </a:prstGeom>
          <a:solidFill>
            <a:srgbClr val="0B3C5D"/>
          </a:solidFill>
          <a:ln/>
        </p:spPr>
      </p:sp>
      <p:sp>
        <p:nvSpPr>
          <p:cNvPr id="12" name="Text 10"/>
          <p:cNvSpPr txBox="1"/>
          <p:nvPr/>
        </p:nvSpPr>
        <p:spPr>
          <a:xfrm>
            <a:off x="1042416" y="3538728"/>
            <a:ext cx="4846320" cy="310896"/>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Velocity</a:t>
            </a:r>
            <a:endParaRPr lang="en-US" sz="1700" dirty="0"/>
          </a:p>
        </p:txBody>
      </p:sp>
      <p:sp>
        <p:nvSpPr>
          <p:cNvPr id="13" name="Text 11"/>
          <p:cNvSpPr txBox="1"/>
          <p:nvPr/>
        </p:nvSpPr>
        <p:spPr>
          <a:xfrm>
            <a:off x="1042416" y="3886200"/>
            <a:ext cx="4846320" cy="914400"/>
          </a:xfrm>
          <a:prstGeom prst="rect">
            <a:avLst/>
          </a:prstGeom>
          <a:noFill/>
          <a:ln/>
        </p:spPr>
        <p:txBody>
          <a:bodyPr wrap="square" lIns="0" tIns="0" rIns="0" bIns="0" rtlCol="0" anchor="t"/>
          <a:lstStyle/>
          <a:p>
            <a:pPr indent="0" marL="0">
              <a:buNone/>
            </a:pPr>
            <a:r>
              <a:rPr lang="en-US" sz="1250" dirty="0">
                <a:solidFill>
                  <a:srgbClr val="10222C"/>
                </a:solidFill>
                <a:latin typeface="Calibri" pitchFamily="34" charset="0"/>
                <a:ea typeface="Calibri" pitchFamily="34" charset="-122"/>
                <a:cs typeface="Calibri" pitchFamily="34" charset="-120"/>
              </a:rPr>
              <a:t>Forecasts are re-issued every few hours; an automated job pulls a new 7-day forecast every morning.</a:t>
            </a:r>
            <a:endParaRPr lang="en-US" sz="1250" dirty="0"/>
          </a:p>
        </p:txBody>
      </p:sp>
      <p:sp>
        <p:nvSpPr>
          <p:cNvPr id="14" name="Shape 12"/>
          <p:cNvSpPr/>
          <p:nvPr/>
        </p:nvSpPr>
        <p:spPr>
          <a:xfrm>
            <a:off x="6144768" y="3575304"/>
            <a:ext cx="329184" cy="329184"/>
          </a:xfrm>
          <a:prstGeom prst="ellipse">
            <a:avLst/>
          </a:prstGeom>
          <a:solidFill>
            <a:srgbClr val="D4761A"/>
          </a:solidFill>
          <a:ln/>
        </p:spPr>
      </p:sp>
      <p:sp>
        <p:nvSpPr>
          <p:cNvPr id="15" name="Text 13"/>
          <p:cNvSpPr txBox="1"/>
          <p:nvPr/>
        </p:nvSpPr>
        <p:spPr>
          <a:xfrm>
            <a:off x="6620256" y="3538728"/>
            <a:ext cx="4846320" cy="310896"/>
          </a:xfrm>
          <a:prstGeom prst="rect">
            <a:avLst/>
          </a:prstGeom>
          <a:noFill/>
          <a:ln/>
        </p:spPr>
        <p:txBody>
          <a:bodyPr wrap="square" lIns="0" tIns="0" rIns="0" bIns="0" rtlCol="0" anchor="ctr"/>
          <a:lstStyle/>
          <a:p>
            <a:pPr indent="0" marL="0">
              <a:buNone/>
            </a:pPr>
            <a:r>
              <a:rPr lang="en-US" sz="1700" b="1" dirty="0">
                <a:solidFill>
                  <a:srgbClr val="D4761A"/>
                </a:solidFill>
                <a:latin typeface="Cambria" pitchFamily="34" charset="0"/>
                <a:ea typeface="Cambria" pitchFamily="34" charset="-122"/>
                <a:cs typeface="Cambria" pitchFamily="34" charset="-120"/>
              </a:rPr>
              <a:t>Veracity</a:t>
            </a:r>
            <a:endParaRPr lang="en-US" sz="1700" dirty="0"/>
          </a:p>
        </p:txBody>
      </p:sp>
      <p:sp>
        <p:nvSpPr>
          <p:cNvPr id="16" name="Text 14"/>
          <p:cNvSpPr txBox="1"/>
          <p:nvPr/>
        </p:nvSpPr>
        <p:spPr>
          <a:xfrm>
            <a:off x="6620256" y="3886200"/>
            <a:ext cx="4846320" cy="914400"/>
          </a:xfrm>
          <a:prstGeom prst="rect">
            <a:avLst/>
          </a:prstGeom>
          <a:noFill/>
          <a:ln/>
        </p:spPr>
        <p:txBody>
          <a:bodyPr wrap="square" lIns="0" tIns="0" rIns="0" bIns="0" rtlCol="0" anchor="t"/>
          <a:lstStyle/>
          <a:p>
            <a:pPr indent="0" marL="0">
              <a:buNone/>
            </a:pPr>
            <a:r>
              <a:rPr lang="en-US" sz="1250" dirty="0">
                <a:solidFill>
                  <a:srgbClr val="10222C"/>
                </a:solidFill>
                <a:latin typeface="Calibri" pitchFamily="34" charset="0"/>
                <a:ea typeface="Calibri" pitchFamily="34" charset="-122"/>
                <a:cs typeface="Calibri" pitchFamily="34" charset="-120"/>
              </a:rPr>
              <a:t>Discharge is model output, not measurement. Reservoir releases are unmodelled. Both must be stated, not hidden.</a:t>
            </a:r>
            <a:endParaRPr lang="en-US" sz="1250" dirty="0"/>
          </a:p>
        </p:txBody>
      </p:sp>
      <p:sp>
        <p:nvSpPr>
          <p:cNvPr id="17" name="Shape 15"/>
          <p:cNvSpPr/>
          <p:nvPr/>
        </p:nvSpPr>
        <p:spPr>
          <a:xfrm>
            <a:off x="566928" y="5138928"/>
            <a:ext cx="10058400" cy="786384"/>
          </a:xfrm>
          <a:prstGeom prst="roundRect">
            <a:avLst>
              <a:gd name="adj" fmla="val 8140"/>
            </a:avLst>
          </a:prstGeom>
          <a:solidFill>
            <a:srgbClr val="F4F7F8"/>
          </a:solidFill>
          <a:ln w="9525">
            <a:solidFill>
              <a:srgbClr val="D6E0E4"/>
            </a:solidFill>
            <a:prstDash val="solid"/>
          </a:ln>
        </p:spPr>
      </p:sp>
      <p:sp>
        <p:nvSpPr>
          <p:cNvPr id="18" name="Text 16"/>
          <p:cNvSpPr txBox="1"/>
          <p:nvPr/>
        </p:nvSpPr>
        <p:spPr>
          <a:xfrm>
            <a:off x="786384" y="5248656"/>
            <a:ext cx="9601200" cy="566928"/>
          </a:xfrm>
          <a:prstGeom prst="rect">
            <a:avLst/>
          </a:prstGeom>
          <a:noFill/>
          <a:ln/>
        </p:spPr>
        <p:txBody>
          <a:bodyPr wrap="square" lIns="0" tIns="0" rIns="0" bIns="0" rtlCol="0" anchor="ctr"/>
          <a:lstStyle/>
          <a:p>
            <a:pPr indent="0" marL="0">
              <a:buNone/>
            </a:pPr>
            <a:r>
              <a:rPr lang="en-US" sz="1300" b="1" dirty="0">
                <a:solidFill>
                  <a:srgbClr val="0B3C5D"/>
                </a:solidFill>
                <a:latin typeface="Calibri" pitchFamily="34" charset="0"/>
                <a:ea typeface="Calibri" pitchFamily="34" charset="-122"/>
                <a:cs typeface="Calibri" pitchFamily="34" charset="-120"/>
              </a:rPr>
              <a:t>Value.  </a:t>
            </a:r>
            <a:pPr indent="0" marL="0">
              <a:buNone/>
            </a:pPr>
            <a:r>
              <a:rPr lang="en-US" sz="1300" dirty="0">
                <a:solidFill>
                  <a:srgbClr val="10222C"/>
                </a:solidFill>
                <a:latin typeface="Calibri" pitchFamily="34" charset="0"/>
                <a:ea typeface="Calibri" pitchFamily="34" charset="-122"/>
                <a:cs typeface="Calibri" pitchFamily="34" charset="-120"/>
              </a:rPr>
              <a:t>The output is not a number but a decision: which alert stage a commune should expect tomorrow, and how much confidence to place in it.</a:t>
            </a:r>
            <a:endParaRPr lang="en-US" sz="1300" dirty="0"/>
          </a:p>
        </p:txBody>
      </p:sp>
      <p:sp>
        <p:nvSpPr>
          <p:cNvPr id="19" name="Text 17"/>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PROBLEM STATEMENT</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Two linked problems, one pipeline</a:t>
            </a:r>
            <a:endParaRPr lang="en-US" sz="3800" dirty="0"/>
          </a:p>
        </p:txBody>
      </p:sp>
      <p:sp>
        <p:nvSpPr>
          <p:cNvPr id="4" name="Shape 2"/>
          <p:cNvSpPr/>
          <p:nvPr/>
        </p:nvSpPr>
        <p:spPr>
          <a:xfrm>
            <a:off x="566928" y="1563624"/>
            <a:ext cx="402336" cy="402336"/>
          </a:xfrm>
          <a:prstGeom prst="ellipse">
            <a:avLst/>
          </a:prstGeom>
          <a:solidFill>
            <a:srgbClr val="0B3C5D"/>
          </a:solidFill>
          <a:ln/>
        </p:spPr>
      </p:sp>
      <p:sp>
        <p:nvSpPr>
          <p:cNvPr id="5" name="Text 3"/>
          <p:cNvSpPr txBox="1"/>
          <p:nvPr/>
        </p:nvSpPr>
        <p:spPr>
          <a:xfrm>
            <a:off x="566928" y="1563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33856" y="1536192"/>
            <a:ext cx="9491472" cy="292608"/>
          </a:xfrm>
          <a:prstGeom prst="rect">
            <a:avLst/>
          </a:prstGeom>
          <a:noFill/>
          <a:ln/>
        </p:spPr>
        <p:txBody>
          <a:bodyPr wrap="square" lIns="0" tIns="0" rIns="0" bIns="0" rtlCol="0" anchor="ctr"/>
          <a:lstStyle/>
          <a:p>
            <a:pPr indent="0" marL="0">
              <a:buNone/>
            </a:pPr>
            <a:r>
              <a:rPr lang="en-US" sz="1500" b="1" dirty="0">
                <a:solidFill>
                  <a:srgbClr val="10222C"/>
                </a:solidFill>
                <a:latin typeface="Calibri" pitchFamily="34" charset="0"/>
                <a:ea typeface="Calibri" pitchFamily="34" charset="-122"/>
                <a:cs typeface="Calibri" pitchFamily="34" charset="-120"/>
              </a:rPr>
              <a:t>Regression — how much water?</a:t>
            </a:r>
            <a:endParaRPr lang="en-US" sz="1500" dirty="0"/>
          </a:p>
        </p:txBody>
      </p:sp>
      <p:sp>
        <p:nvSpPr>
          <p:cNvPr id="7" name="Text 5"/>
          <p:cNvSpPr txBox="1"/>
          <p:nvPr/>
        </p:nvSpPr>
        <p:spPr>
          <a:xfrm>
            <a:off x="1133856" y="1837944"/>
            <a:ext cx="9491472" cy="566928"/>
          </a:xfrm>
          <a:prstGeom prst="rect">
            <a:avLst/>
          </a:prstGeom>
          <a:noFill/>
          <a:ln/>
        </p:spPr>
        <p:txBody>
          <a:bodyPr wrap="square" lIns="0" tIns="0" rIns="0" bIns="0" rtlCol="0" anchor="t"/>
          <a:lstStyle/>
          <a:p>
            <a:pPr indent="0" marL="0">
              <a:buNone/>
            </a:pPr>
            <a:r>
              <a:rPr lang="en-US" sz="1250" dirty="0">
                <a:solidFill>
                  <a:srgbClr val="6E8A98"/>
                </a:solidFill>
                <a:latin typeface="Calibri" pitchFamily="34" charset="0"/>
                <a:ea typeface="Calibri" pitchFamily="34" charset="-122"/>
                <a:cs typeface="Calibri" pitchFamily="34" charset="-120"/>
              </a:rPr>
              <a:t>Predict daily mean discharge in m³/s at horizons of 1, 2 and 3 days. Continuous target; evaluated with RMSE, MAE, NSE and KGE.</a:t>
            </a:r>
            <a:endParaRPr lang="en-US" sz="1250" dirty="0"/>
          </a:p>
        </p:txBody>
      </p:sp>
      <p:sp>
        <p:nvSpPr>
          <p:cNvPr id="8" name="Shape 6"/>
          <p:cNvSpPr/>
          <p:nvPr/>
        </p:nvSpPr>
        <p:spPr>
          <a:xfrm>
            <a:off x="566928" y="2770632"/>
            <a:ext cx="402336" cy="402336"/>
          </a:xfrm>
          <a:prstGeom prst="ellipse">
            <a:avLst/>
          </a:prstGeom>
          <a:solidFill>
            <a:srgbClr val="1D7A8C"/>
          </a:solidFill>
          <a:ln/>
        </p:spPr>
      </p:sp>
      <p:sp>
        <p:nvSpPr>
          <p:cNvPr id="9" name="Text 7"/>
          <p:cNvSpPr txBox="1"/>
          <p:nvPr/>
        </p:nvSpPr>
        <p:spPr>
          <a:xfrm>
            <a:off x="566928" y="27706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133856" y="2743200"/>
            <a:ext cx="9491472" cy="292608"/>
          </a:xfrm>
          <a:prstGeom prst="rect">
            <a:avLst/>
          </a:prstGeom>
          <a:noFill/>
          <a:ln/>
        </p:spPr>
        <p:txBody>
          <a:bodyPr wrap="square" lIns="0" tIns="0" rIns="0" bIns="0" rtlCol="0" anchor="ctr"/>
          <a:lstStyle/>
          <a:p>
            <a:pPr indent="0" marL="0">
              <a:buNone/>
            </a:pPr>
            <a:r>
              <a:rPr lang="en-US" sz="1500" b="1" dirty="0">
                <a:solidFill>
                  <a:srgbClr val="10222C"/>
                </a:solidFill>
                <a:latin typeface="Calibri" pitchFamily="34" charset="0"/>
                <a:ea typeface="Calibri" pitchFamily="34" charset="-122"/>
                <a:cs typeface="Calibri" pitchFamily="34" charset="-120"/>
              </a:rPr>
              <a:t>Classification — which alert stage?</a:t>
            </a:r>
            <a:endParaRPr lang="en-US" sz="1500" dirty="0"/>
          </a:p>
        </p:txBody>
      </p:sp>
      <p:sp>
        <p:nvSpPr>
          <p:cNvPr id="11" name="Text 9"/>
          <p:cNvSpPr txBox="1"/>
          <p:nvPr/>
        </p:nvSpPr>
        <p:spPr>
          <a:xfrm>
            <a:off x="1133856" y="3044952"/>
            <a:ext cx="9491472" cy="566928"/>
          </a:xfrm>
          <a:prstGeom prst="rect">
            <a:avLst/>
          </a:prstGeom>
          <a:noFill/>
          <a:ln/>
        </p:spPr>
        <p:txBody>
          <a:bodyPr wrap="square" lIns="0" tIns="0" rIns="0" bIns="0" rtlCol="0" anchor="t"/>
          <a:lstStyle/>
          <a:p>
            <a:pPr indent="0" marL="0">
              <a:buNone/>
            </a:pPr>
            <a:r>
              <a:rPr lang="en-US" sz="1250" dirty="0">
                <a:solidFill>
                  <a:srgbClr val="6E8A98"/>
                </a:solidFill>
                <a:latin typeface="Calibri" pitchFamily="34" charset="0"/>
                <a:ea typeface="Calibri" pitchFamily="34" charset="-122"/>
                <a:cs typeface="Calibri" pitchFamily="34" charset="-120"/>
              </a:rPr>
              <a:t>Predict whether each day exceeds BĐ I, II or III. Positive days are rare — roughly 1–3 % — so accuracy is banned; we use POD, FAR, CSI and PR-AUC.</a:t>
            </a:r>
            <a:endParaRPr lang="en-US" sz="1250" dirty="0"/>
          </a:p>
        </p:txBody>
      </p:sp>
      <p:sp>
        <p:nvSpPr>
          <p:cNvPr id="12" name="Shape 10"/>
          <p:cNvSpPr/>
          <p:nvPr/>
        </p:nvSpPr>
        <p:spPr>
          <a:xfrm>
            <a:off x="566928" y="3977640"/>
            <a:ext cx="402336" cy="402336"/>
          </a:xfrm>
          <a:prstGeom prst="ellipse">
            <a:avLst/>
          </a:prstGeom>
          <a:solidFill>
            <a:srgbClr val="D4761A"/>
          </a:solidFill>
          <a:ln/>
        </p:spPr>
      </p:sp>
      <p:sp>
        <p:nvSpPr>
          <p:cNvPr id="13" name="Text 11"/>
          <p:cNvSpPr txBox="1"/>
          <p:nvPr/>
        </p:nvSpPr>
        <p:spPr>
          <a:xfrm>
            <a:off x="56692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33856" y="3950208"/>
            <a:ext cx="9491472" cy="292608"/>
          </a:xfrm>
          <a:prstGeom prst="rect">
            <a:avLst/>
          </a:prstGeom>
          <a:noFill/>
          <a:ln/>
        </p:spPr>
        <p:txBody>
          <a:bodyPr wrap="square" lIns="0" tIns="0" rIns="0" bIns="0" rtlCol="0" anchor="ctr"/>
          <a:lstStyle/>
          <a:p>
            <a:pPr indent="0" marL="0">
              <a:buNone/>
            </a:pPr>
            <a:r>
              <a:rPr lang="en-US" sz="1500" b="1" dirty="0">
                <a:solidFill>
                  <a:srgbClr val="10222C"/>
                </a:solidFill>
                <a:latin typeface="Calibri" pitchFamily="34" charset="0"/>
                <a:ea typeface="Calibri" pitchFamily="34" charset="-122"/>
                <a:cs typeface="Calibri" pitchFamily="34" charset="-120"/>
              </a:rPr>
              <a:t>The bridge between them</a:t>
            </a:r>
            <a:endParaRPr lang="en-US" sz="1500" dirty="0"/>
          </a:p>
        </p:txBody>
      </p:sp>
      <p:sp>
        <p:nvSpPr>
          <p:cNvPr id="15" name="Text 13"/>
          <p:cNvSpPr txBox="1"/>
          <p:nvPr/>
        </p:nvSpPr>
        <p:spPr>
          <a:xfrm>
            <a:off x="1133856" y="4251960"/>
            <a:ext cx="9491472" cy="566928"/>
          </a:xfrm>
          <a:prstGeom prst="rect">
            <a:avLst/>
          </a:prstGeom>
          <a:noFill/>
          <a:ln/>
        </p:spPr>
        <p:txBody>
          <a:bodyPr wrap="square" lIns="0" tIns="0" rIns="0" bIns="0" rtlCol="0" anchor="t"/>
          <a:lstStyle/>
          <a:p>
            <a:pPr indent="0" marL="0">
              <a:buNone/>
            </a:pPr>
            <a:r>
              <a:rPr lang="en-US" sz="1250" dirty="0">
                <a:solidFill>
                  <a:srgbClr val="6E8A98"/>
                </a:solidFill>
                <a:latin typeface="Calibri" pitchFamily="34" charset="0"/>
                <a:ea typeface="Calibri" pitchFamily="34" charset="-122"/>
                <a:cs typeface="Calibri" pitchFamily="34" charset="-120"/>
              </a:rPr>
              <a:t>Official stages are water levels in metres; the data is discharge in m³/s. A calibration mapping from documented flood peaks converts one to the other.</a:t>
            </a:r>
            <a:endParaRPr lang="en-US" sz="1250" dirty="0"/>
          </a:p>
        </p:txBody>
      </p:sp>
      <p:sp>
        <p:nvSpPr>
          <p:cNvPr id="16" name="Shape 14"/>
          <p:cNvSpPr/>
          <p:nvPr/>
        </p:nvSpPr>
        <p:spPr>
          <a:xfrm>
            <a:off x="566928" y="5230368"/>
            <a:ext cx="10058400" cy="713232"/>
          </a:xfrm>
          <a:prstGeom prst="roundRect">
            <a:avLst>
              <a:gd name="adj" fmla="val 8974"/>
            </a:avLst>
          </a:prstGeom>
          <a:solidFill>
            <a:srgbClr val="FDF1E3"/>
          </a:solidFill>
          <a:ln w="9525">
            <a:solidFill>
              <a:srgbClr val="F0D3AF"/>
            </a:solidFill>
            <a:prstDash val="solid"/>
          </a:ln>
        </p:spPr>
      </p:sp>
      <p:sp>
        <p:nvSpPr>
          <p:cNvPr id="17" name="Text 15"/>
          <p:cNvSpPr txBox="1"/>
          <p:nvPr/>
        </p:nvSpPr>
        <p:spPr>
          <a:xfrm>
            <a:off x="786384" y="5340096"/>
            <a:ext cx="9601200" cy="493776"/>
          </a:xfrm>
          <a:prstGeom prst="rect">
            <a:avLst/>
          </a:prstGeom>
          <a:noFill/>
          <a:ln/>
        </p:spPr>
        <p:txBody>
          <a:bodyPr wrap="square" lIns="0" tIns="0" rIns="0" bIns="0" rtlCol="0" anchor="ctr"/>
          <a:lstStyle/>
          <a:p>
            <a:pPr indent="0" marL="0">
              <a:buNone/>
            </a:pPr>
            <a:r>
              <a:rPr lang="en-US" sz="1250" b="1" dirty="0">
                <a:solidFill>
                  <a:srgbClr val="8A4A0C"/>
                </a:solidFill>
                <a:latin typeface="Calibri" pitchFamily="34" charset="0"/>
                <a:ea typeface="Calibri" pitchFamily="34" charset="-122"/>
                <a:cs typeface="Calibri" pitchFamily="34" charset="-120"/>
              </a:rPr>
              <a:t>Constraint that shapes everything:  </a:t>
            </a:r>
            <a:pPr indent="0" marL="0">
              <a:buNone/>
            </a:pPr>
            <a:r>
              <a:rPr lang="en-US" sz="1250" dirty="0">
                <a:solidFill>
                  <a:srgbClr val="10222C"/>
                </a:solidFill>
                <a:latin typeface="Calibri" pitchFamily="34" charset="0"/>
                <a:ea typeface="Calibri" pitchFamily="34" charset="-122"/>
                <a:cs typeface="Calibri" pitchFamily="34" charset="-120"/>
              </a:rPr>
              <a:t>no measured water-level series is available to us, so the level-to-discharge mapping must be built indirectly from published flood peaks.</a:t>
            </a:r>
            <a:endParaRPr lang="en-US" sz="1250" dirty="0"/>
          </a:p>
        </p:txBody>
      </p:sp>
      <p:sp>
        <p:nvSpPr>
          <p:cNvPr id="18" name="Text 16"/>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ANALYTICS APPROACH</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Primarily predictive</a:t>
            </a:r>
            <a:endParaRPr lang="en-US" sz="3800" dirty="0"/>
          </a:p>
        </p:txBody>
      </p:sp>
      <p:sp>
        <p:nvSpPr>
          <p:cNvPr id="4" name="Shape 2"/>
          <p:cNvSpPr/>
          <p:nvPr/>
        </p:nvSpPr>
        <p:spPr>
          <a:xfrm>
            <a:off x="566928" y="1517904"/>
            <a:ext cx="4937760" cy="1883664"/>
          </a:xfrm>
          <a:prstGeom prst="roundRect">
            <a:avLst>
              <a:gd name="adj" fmla="val 4369"/>
            </a:avLst>
          </a:prstGeom>
          <a:solidFill>
            <a:srgbClr val="F4F7F8"/>
          </a:solidFill>
          <a:ln w="9525">
            <a:solidFill>
              <a:srgbClr val="D6E0E4"/>
            </a:solidFill>
            <a:prstDash val="solid"/>
          </a:ln>
        </p:spPr>
      </p:sp>
      <p:sp>
        <p:nvSpPr>
          <p:cNvPr id="5" name="Text 3"/>
          <p:cNvSpPr txBox="1"/>
          <p:nvPr/>
        </p:nvSpPr>
        <p:spPr>
          <a:xfrm>
            <a:off x="804672" y="1700784"/>
            <a:ext cx="4480560" cy="237744"/>
          </a:xfrm>
          <a:prstGeom prst="rect">
            <a:avLst/>
          </a:prstGeom>
          <a:noFill/>
          <a:ln/>
        </p:spPr>
        <p:txBody>
          <a:bodyPr wrap="square" lIns="0" tIns="0" rIns="0" bIns="0" rtlCol="0" anchor="ctr"/>
          <a:lstStyle/>
          <a:p>
            <a:pPr indent="0" marL="0">
              <a:buNone/>
            </a:pPr>
            <a:r>
              <a:rPr lang="en-US" sz="950" b="1" spc="160" kern="0" dirty="0">
                <a:solidFill>
                  <a:srgbClr val="1D7A8C"/>
                </a:solidFill>
                <a:latin typeface="Calibri" pitchFamily="34" charset="0"/>
                <a:ea typeface="Calibri" pitchFamily="34" charset="-122"/>
                <a:cs typeface="Calibri" pitchFamily="34" charset="-120"/>
              </a:rPr>
              <a:t>SUPPORTING</a:t>
            </a:r>
            <a:endParaRPr lang="en-US" sz="950" dirty="0"/>
          </a:p>
        </p:txBody>
      </p:sp>
      <p:sp>
        <p:nvSpPr>
          <p:cNvPr id="6" name="Text 4"/>
          <p:cNvSpPr txBox="1"/>
          <p:nvPr/>
        </p:nvSpPr>
        <p:spPr>
          <a:xfrm>
            <a:off x="804672" y="1956816"/>
            <a:ext cx="3108960" cy="384048"/>
          </a:xfrm>
          <a:prstGeom prst="rect">
            <a:avLst/>
          </a:prstGeom>
          <a:noFill/>
          <a:ln/>
        </p:spPr>
        <p:txBody>
          <a:bodyPr wrap="square" lIns="0" tIns="0" rIns="0" bIns="0" rtlCol="0" anchor="ctr"/>
          <a:lstStyle/>
          <a:p>
            <a:pPr indent="0" marL="0">
              <a:buNone/>
            </a:pPr>
            <a:r>
              <a:rPr lang="en-US" sz="2100" b="1" dirty="0">
                <a:solidFill>
                  <a:srgbClr val="0B3C5D"/>
                </a:solidFill>
                <a:latin typeface="Cambria" pitchFamily="34" charset="0"/>
                <a:ea typeface="Cambria" pitchFamily="34" charset="-122"/>
                <a:cs typeface="Cambria" pitchFamily="34" charset="-120"/>
              </a:rPr>
              <a:t>Descriptive</a:t>
            </a:r>
            <a:endParaRPr lang="en-US" sz="2100" dirty="0"/>
          </a:p>
        </p:txBody>
      </p:sp>
      <p:sp>
        <p:nvSpPr>
          <p:cNvPr id="7" name="Text 5"/>
          <p:cNvSpPr txBox="1"/>
          <p:nvPr/>
        </p:nvSpPr>
        <p:spPr>
          <a:xfrm>
            <a:off x="804672" y="2359152"/>
            <a:ext cx="4480560" cy="256032"/>
          </a:xfrm>
          <a:prstGeom prst="rect">
            <a:avLst/>
          </a:prstGeom>
          <a:noFill/>
          <a:ln/>
        </p:spPr>
        <p:txBody>
          <a:bodyPr wrap="square" lIns="0" tIns="0" rIns="0" bIns="0" rtlCol="0" anchor="ctr"/>
          <a:lstStyle/>
          <a:p>
            <a:pPr indent="0" marL="0">
              <a:buNone/>
            </a:pPr>
            <a:r>
              <a:rPr lang="en-US" sz="1150" i="1" dirty="0">
                <a:solidFill>
                  <a:srgbClr val="6E8A98"/>
                </a:solidFill>
                <a:latin typeface="Calibri" pitchFamily="34" charset="0"/>
                <a:ea typeface="Calibri" pitchFamily="34" charset="-122"/>
                <a:cs typeface="Calibri" pitchFamily="34" charset="-120"/>
              </a:rPr>
              <a:t>What happened?</a:t>
            </a:r>
            <a:endParaRPr lang="en-US" sz="1150" dirty="0"/>
          </a:p>
        </p:txBody>
      </p:sp>
      <p:sp>
        <p:nvSpPr>
          <p:cNvPr id="8" name="Text 6"/>
          <p:cNvSpPr txBox="1"/>
          <p:nvPr/>
        </p:nvSpPr>
        <p:spPr>
          <a:xfrm>
            <a:off x="804672" y="2651760"/>
            <a:ext cx="4480560" cy="621792"/>
          </a:xfrm>
          <a:prstGeom prst="rect">
            <a:avLst/>
          </a:prstGeom>
          <a:noFill/>
          <a:ln/>
        </p:spPr>
        <p:txBody>
          <a:bodyPr wrap="square" lIns="0" tIns="0" rIns="0" bIns="0" rtlCol="0" anchor="t"/>
          <a:lstStyle/>
          <a:p>
            <a:pPr indent="0" marL="0">
              <a:buNone/>
            </a:pPr>
            <a:r>
              <a:rPr lang="en-US" sz="1200" dirty="0">
                <a:solidFill>
                  <a:srgbClr val="10222C"/>
                </a:solidFill>
                <a:latin typeface="Calibri" pitchFamily="34" charset="0"/>
                <a:ea typeface="Calibri" pitchFamily="34" charset="-122"/>
                <a:cs typeface="Calibri" pitchFamily="34" charset="-120"/>
              </a:rPr>
              <a:t>Supporting. Seasonality, rainfall–discharge lag, historical flood events.</a:t>
            </a:r>
            <a:endParaRPr lang="en-US" sz="1200" dirty="0"/>
          </a:p>
        </p:txBody>
      </p:sp>
      <p:sp>
        <p:nvSpPr>
          <p:cNvPr id="9" name="Shape 7"/>
          <p:cNvSpPr/>
          <p:nvPr/>
        </p:nvSpPr>
        <p:spPr>
          <a:xfrm>
            <a:off x="5797296" y="1517904"/>
            <a:ext cx="4937760" cy="1883664"/>
          </a:xfrm>
          <a:prstGeom prst="roundRect">
            <a:avLst>
              <a:gd name="adj" fmla="val 4369"/>
            </a:avLst>
          </a:prstGeom>
          <a:solidFill>
            <a:srgbClr val="F4F7F8"/>
          </a:solidFill>
          <a:ln w="9525">
            <a:solidFill>
              <a:srgbClr val="D6E0E4"/>
            </a:solidFill>
            <a:prstDash val="solid"/>
          </a:ln>
        </p:spPr>
      </p:sp>
      <p:sp>
        <p:nvSpPr>
          <p:cNvPr id="10" name="Text 8"/>
          <p:cNvSpPr txBox="1"/>
          <p:nvPr/>
        </p:nvSpPr>
        <p:spPr>
          <a:xfrm>
            <a:off x="6035040" y="1700784"/>
            <a:ext cx="4480560" cy="237744"/>
          </a:xfrm>
          <a:prstGeom prst="rect">
            <a:avLst/>
          </a:prstGeom>
          <a:noFill/>
          <a:ln/>
        </p:spPr>
        <p:txBody>
          <a:bodyPr wrap="square" lIns="0" tIns="0" rIns="0" bIns="0" rtlCol="0" anchor="ctr"/>
          <a:lstStyle/>
          <a:p>
            <a:pPr indent="0" marL="0">
              <a:buNone/>
            </a:pPr>
            <a:r>
              <a:rPr lang="en-US" sz="950" b="1" spc="160" kern="0" dirty="0">
                <a:solidFill>
                  <a:srgbClr val="1D7A8C"/>
                </a:solidFill>
                <a:latin typeface="Calibri" pitchFamily="34" charset="0"/>
                <a:ea typeface="Calibri" pitchFamily="34" charset="-122"/>
                <a:cs typeface="Calibri" pitchFamily="34" charset="-120"/>
              </a:rPr>
              <a:t>PARTIAL</a:t>
            </a:r>
            <a:endParaRPr lang="en-US" sz="950" dirty="0"/>
          </a:p>
        </p:txBody>
      </p:sp>
      <p:sp>
        <p:nvSpPr>
          <p:cNvPr id="11" name="Text 9"/>
          <p:cNvSpPr txBox="1"/>
          <p:nvPr/>
        </p:nvSpPr>
        <p:spPr>
          <a:xfrm>
            <a:off x="6035040" y="1956816"/>
            <a:ext cx="3108960" cy="384048"/>
          </a:xfrm>
          <a:prstGeom prst="rect">
            <a:avLst/>
          </a:prstGeom>
          <a:noFill/>
          <a:ln/>
        </p:spPr>
        <p:txBody>
          <a:bodyPr wrap="square" lIns="0" tIns="0" rIns="0" bIns="0" rtlCol="0" anchor="ctr"/>
          <a:lstStyle/>
          <a:p>
            <a:pPr indent="0" marL="0">
              <a:buNone/>
            </a:pPr>
            <a:r>
              <a:rPr lang="en-US" sz="2100" b="1" dirty="0">
                <a:solidFill>
                  <a:srgbClr val="0B3C5D"/>
                </a:solidFill>
                <a:latin typeface="Cambria" pitchFamily="34" charset="0"/>
                <a:ea typeface="Cambria" pitchFamily="34" charset="-122"/>
                <a:cs typeface="Cambria" pitchFamily="34" charset="-120"/>
              </a:rPr>
              <a:t>Diagnostic</a:t>
            </a:r>
            <a:endParaRPr lang="en-US" sz="2100" dirty="0"/>
          </a:p>
        </p:txBody>
      </p:sp>
      <p:sp>
        <p:nvSpPr>
          <p:cNvPr id="12" name="Text 10"/>
          <p:cNvSpPr txBox="1"/>
          <p:nvPr/>
        </p:nvSpPr>
        <p:spPr>
          <a:xfrm>
            <a:off x="6035040" y="2359152"/>
            <a:ext cx="4480560" cy="256032"/>
          </a:xfrm>
          <a:prstGeom prst="rect">
            <a:avLst/>
          </a:prstGeom>
          <a:noFill/>
          <a:ln/>
        </p:spPr>
        <p:txBody>
          <a:bodyPr wrap="square" lIns="0" tIns="0" rIns="0" bIns="0" rtlCol="0" anchor="ctr"/>
          <a:lstStyle/>
          <a:p>
            <a:pPr indent="0" marL="0">
              <a:buNone/>
            </a:pPr>
            <a:r>
              <a:rPr lang="en-US" sz="1150" i="1" dirty="0">
                <a:solidFill>
                  <a:srgbClr val="6E8A98"/>
                </a:solidFill>
                <a:latin typeface="Calibri" pitchFamily="34" charset="0"/>
                <a:ea typeface="Calibri" pitchFamily="34" charset="-122"/>
                <a:cs typeface="Calibri" pitchFamily="34" charset="-120"/>
              </a:rPr>
              <a:t>Why did it happen?</a:t>
            </a:r>
            <a:endParaRPr lang="en-US" sz="1150" dirty="0"/>
          </a:p>
        </p:txBody>
      </p:sp>
      <p:sp>
        <p:nvSpPr>
          <p:cNvPr id="13" name="Text 11"/>
          <p:cNvSpPr txBox="1"/>
          <p:nvPr/>
        </p:nvSpPr>
        <p:spPr>
          <a:xfrm>
            <a:off x="6035040" y="2651760"/>
            <a:ext cx="4480560" cy="621792"/>
          </a:xfrm>
          <a:prstGeom prst="rect">
            <a:avLst/>
          </a:prstGeom>
          <a:noFill/>
          <a:ln/>
        </p:spPr>
        <p:txBody>
          <a:bodyPr wrap="square" lIns="0" tIns="0" rIns="0" bIns="0" rtlCol="0" anchor="t"/>
          <a:lstStyle/>
          <a:p>
            <a:pPr indent="0" marL="0">
              <a:buNone/>
            </a:pPr>
            <a:r>
              <a:rPr lang="en-US" sz="1200" dirty="0">
                <a:solidFill>
                  <a:srgbClr val="10222C"/>
                </a:solidFill>
                <a:latin typeface="Calibri" pitchFamily="34" charset="0"/>
                <a:ea typeface="Calibri" pitchFamily="34" charset="-122"/>
                <a:cs typeface="Calibri" pitchFamily="34" charset="-120"/>
              </a:rPr>
              <a:t>Partial. SHAP attributes each warning to rainfall, antecedent wetness or season.</a:t>
            </a:r>
            <a:endParaRPr lang="en-US" sz="1200" dirty="0"/>
          </a:p>
        </p:txBody>
      </p:sp>
      <p:sp>
        <p:nvSpPr>
          <p:cNvPr id="14" name="Shape 12"/>
          <p:cNvSpPr/>
          <p:nvPr/>
        </p:nvSpPr>
        <p:spPr>
          <a:xfrm>
            <a:off x="566928" y="3602736"/>
            <a:ext cx="4937760" cy="1883664"/>
          </a:xfrm>
          <a:prstGeom prst="roundRect">
            <a:avLst>
              <a:gd name="adj" fmla="val 4369"/>
            </a:avLst>
          </a:prstGeom>
          <a:solidFill>
            <a:srgbClr val="FDF1E3"/>
          </a:solidFill>
          <a:ln w="22225">
            <a:solidFill>
              <a:srgbClr val="D4761A"/>
            </a:solidFill>
            <a:prstDash val="solid"/>
          </a:ln>
        </p:spPr>
      </p:sp>
      <p:sp>
        <p:nvSpPr>
          <p:cNvPr id="15" name="Text 13"/>
          <p:cNvSpPr txBox="1"/>
          <p:nvPr/>
        </p:nvSpPr>
        <p:spPr>
          <a:xfrm>
            <a:off x="804672" y="3785616"/>
            <a:ext cx="4480560" cy="237744"/>
          </a:xfrm>
          <a:prstGeom prst="rect">
            <a:avLst/>
          </a:prstGeom>
          <a:noFill/>
          <a:ln/>
        </p:spPr>
        <p:txBody>
          <a:bodyPr wrap="square" lIns="0" tIns="0" rIns="0" bIns="0" rtlCol="0" anchor="ctr"/>
          <a:lstStyle/>
          <a:p>
            <a:pPr indent="0" marL="0">
              <a:buNone/>
            </a:pPr>
            <a:r>
              <a:rPr lang="en-US" sz="950" b="1" spc="160" kern="0" dirty="0">
                <a:solidFill>
                  <a:srgbClr val="D4761A"/>
                </a:solidFill>
                <a:latin typeface="Calibri" pitchFamily="34" charset="0"/>
                <a:ea typeface="Calibri" pitchFamily="34" charset="-122"/>
                <a:cs typeface="Calibri" pitchFamily="34" charset="-120"/>
              </a:rPr>
              <a:t>CORE</a:t>
            </a:r>
            <a:endParaRPr lang="en-US" sz="950" dirty="0"/>
          </a:p>
        </p:txBody>
      </p:sp>
      <p:sp>
        <p:nvSpPr>
          <p:cNvPr id="16" name="Text 14"/>
          <p:cNvSpPr txBox="1"/>
          <p:nvPr/>
        </p:nvSpPr>
        <p:spPr>
          <a:xfrm>
            <a:off x="804672" y="4041648"/>
            <a:ext cx="3108960" cy="384048"/>
          </a:xfrm>
          <a:prstGeom prst="rect">
            <a:avLst/>
          </a:prstGeom>
          <a:noFill/>
          <a:ln/>
        </p:spPr>
        <p:txBody>
          <a:bodyPr wrap="square" lIns="0" tIns="0" rIns="0" bIns="0" rtlCol="0" anchor="ctr"/>
          <a:lstStyle/>
          <a:p>
            <a:pPr indent="0" marL="0">
              <a:buNone/>
            </a:pPr>
            <a:r>
              <a:rPr lang="en-US" sz="2100" b="1" dirty="0">
                <a:solidFill>
                  <a:srgbClr val="8A4A0C"/>
                </a:solidFill>
                <a:latin typeface="Cambria" pitchFamily="34" charset="0"/>
                <a:ea typeface="Cambria" pitchFamily="34" charset="-122"/>
                <a:cs typeface="Cambria" pitchFamily="34" charset="-120"/>
              </a:rPr>
              <a:t>Predictive</a:t>
            </a:r>
            <a:endParaRPr lang="en-US" sz="2100" dirty="0"/>
          </a:p>
        </p:txBody>
      </p:sp>
      <p:sp>
        <p:nvSpPr>
          <p:cNvPr id="17" name="Text 15"/>
          <p:cNvSpPr txBox="1"/>
          <p:nvPr/>
        </p:nvSpPr>
        <p:spPr>
          <a:xfrm>
            <a:off x="804672" y="4443984"/>
            <a:ext cx="4480560" cy="256032"/>
          </a:xfrm>
          <a:prstGeom prst="rect">
            <a:avLst/>
          </a:prstGeom>
          <a:noFill/>
          <a:ln/>
        </p:spPr>
        <p:txBody>
          <a:bodyPr wrap="square" lIns="0" tIns="0" rIns="0" bIns="0" rtlCol="0" anchor="ctr"/>
          <a:lstStyle/>
          <a:p>
            <a:pPr indent="0" marL="0">
              <a:buNone/>
            </a:pPr>
            <a:r>
              <a:rPr lang="en-US" sz="1150" i="1" dirty="0">
                <a:solidFill>
                  <a:srgbClr val="6E8A98"/>
                </a:solidFill>
                <a:latin typeface="Calibri" pitchFamily="34" charset="0"/>
                <a:ea typeface="Calibri" pitchFamily="34" charset="-122"/>
                <a:cs typeface="Calibri" pitchFamily="34" charset="-120"/>
              </a:rPr>
              <a:t>What will happen?</a:t>
            </a:r>
            <a:endParaRPr lang="en-US" sz="1150" dirty="0"/>
          </a:p>
        </p:txBody>
      </p:sp>
      <p:sp>
        <p:nvSpPr>
          <p:cNvPr id="18" name="Text 16"/>
          <p:cNvSpPr txBox="1"/>
          <p:nvPr/>
        </p:nvSpPr>
        <p:spPr>
          <a:xfrm>
            <a:off x="804672" y="4736592"/>
            <a:ext cx="4480560" cy="621792"/>
          </a:xfrm>
          <a:prstGeom prst="rect">
            <a:avLst/>
          </a:prstGeom>
          <a:noFill/>
          <a:ln/>
        </p:spPr>
        <p:txBody>
          <a:bodyPr wrap="square" lIns="0" tIns="0" rIns="0" bIns="0" rtlCol="0" anchor="t"/>
          <a:lstStyle/>
          <a:p>
            <a:pPr indent="0" marL="0">
              <a:buNone/>
            </a:pPr>
            <a:r>
              <a:rPr lang="en-US" sz="1200" dirty="0">
                <a:solidFill>
                  <a:srgbClr val="10222C"/>
                </a:solidFill>
                <a:latin typeface="Calibri" pitchFamily="34" charset="0"/>
                <a:ea typeface="Calibri" pitchFamily="34" charset="-122"/>
                <a:cs typeface="Calibri" pitchFamily="34" charset="-120"/>
              </a:rPr>
              <a:t>Core. Discharge and alert stage 1–3 days ahead. Both research questions live here.</a:t>
            </a:r>
            <a:endParaRPr lang="en-US" sz="1200" dirty="0"/>
          </a:p>
        </p:txBody>
      </p:sp>
      <p:sp>
        <p:nvSpPr>
          <p:cNvPr id="19" name="Shape 17"/>
          <p:cNvSpPr/>
          <p:nvPr/>
        </p:nvSpPr>
        <p:spPr>
          <a:xfrm>
            <a:off x="5797296" y="3602736"/>
            <a:ext cx="4937760" cy="1883664"/>
          </a:xfrm>
          <a:prstGeom prst="roundRect">
            <a:avLst>
              <a:gd name="adj" fmla="val 4369"/>
            </a:avLst>
          </a:prstGeom>
          <a:solidFill>
            <a:srgbClr val="F4F7F8"/>
          </a:solidFill>
          <a:ln w="9525">
            <a:solidFill>
              <a:srgbClr val="D6E0E4"/>
            </a:solidFill>
            <a:prstDash val="solid"/>
          </a:ln>
        </p:spPr>
      </p:sp>
      <p:sp>
        <p:nvSpPr>
          <p:cNvPr id="20" name="Text 18"/>
          <p:cNvSpPr txBox="1"/>
          <p:nvPr/>
        </p:nvSpPr>
        <p:spPr>
          <a:xfrm>
            <a:off x="6035040" y="3785616"/>
            <a:ext cx="4480560" cy="237744"/>
          </a:xfrm>
          <a:prstGeom prst="rect">
            <a:avLst/>
          </a:prstGeom>
          <a:noFill/>
          <a:ln/>
        </p:spPr>
        <p:txBody>
          <a:bodyPr wrap="square" lIns="0" tIns="0" rIns="0" bIns="0" rtlCol="0" anchor="ctr"/>
          <a:lstStyle/>
          <a:p>
            <a:pPr indent="0" marL="0">
              <a:buNone/>
            </a:pPr>
            <a:r>
              <a:rPr lang="en-US" sz="950" b="1" spc="160" kern="0" dirty="0">
                <a:solidFill>
                  <a:srgbClr val="6E8A98"/>
                </a:solidFill>
                <a:latin typeface="Calibri" pitchFamily="34" charset="0"/>
                <a:ea typeface="Calibri" pitchFamily="34" charset="-122"/>
                <a:cs typeface="Calibri" pitchFamily="34" charset="-120"/>
              </a:rPr>
              <a:t>OUT OF SCOPE</a:t>
            </a:r>
            <a:endParaRPr lang="en-US" sz="950" dirty="0"/>
          </a:p>
        </p:txBody>
      </p:sp>
      <p:sp>
        <p:nvSpPr>
          <p:cNvPr id="21" name="Text 19"/>
          <p:cNvSpPr txBox="1"/>
          <p:nvPr/>
        </p:nvSpPr>
        <p:spPr>
          <a:xfrm>
            <a:off x="6035040" y="4041648"/>
            <a:ext cx="3108960" cy="384048"/>
          </a:xfrm>
          <a:prstGeom prst="rect">
            <a:avLst/>
          </a:prstGeom>
          <a:noFill/>
          <a:ln/>
        </p:spPr>
        <p:txBody>
          <a:bodyPr wrap="square" lIns="0" tIns="0" rIns="0" bIns="0" rtlCol="0" anchor="ctr"/>
          <a:lstStyle/>
          <a:p>
            <a:pPr indent="0" marL="0">
              <a:buNone/>
            </a:pPr>
            <a:r>
              <a:rPr lang="en-US" sz="2100" b="1" dirty="0">
                <a:solidFill>
                  <a:srgbClr val="0B3C5D"/>
                </a:solidFill>
                <a:latin typeface="Cambria" pitchFamily="34" charset="0"/>
                <a:ea typeface="Cambria" pitchFamily="34" charset="-122"/>
                <a:cs typeface="Cambria" pitchFamily="34" charset="-120"/>
              </a:rPr>
              <a:t>Prescriptive</a:t>
            </a:r>
            <a:endParaRPr lang="en-US" sz="2100" dirty="0"/>
          </a:p>
        </p:txBody>
      </p:sp>
      <p:sp>
        <p:nvSpPr>
          <p:cNvPr id="22" name="Text 20"/>
          <p:cNvSpPr txBox="1"/>
          <p:nvPr/>
        </p:nvSpPr>
        <p:spPr>
          <a:xfrm>
            <a:off x="6035040" y="4443984"/>
            <a:ext cx="4480560" cy="256032"/>
          </a:xfrm>
          <a:prstGeom prst="rect">
            <a:avLst/>
          </a:prstGeom>
          <a:noFill/>
          <a:ln/>
        </p:spPr>
        <p:txBody>
          <a:bodyPr wrap="square" lIns="0" tIns="0" rIns="0" bIns="0" rtlCol="0" anchor="ctr"/>
          <a:lstStyle/>
          <a:p>
            <a:pPr indent="0" marL="0">
              <a:buNone/>
            </a:pPr>
            <a:r>
              <a:rPr lang="en-US" sz="1150" i="1" dirty="0">
                <a:solidFill>
                  <a:srgbClr val="6E8A98"/>
                </a:solidFill>
                <a:latin typeface="Calibri" pitchFamily="34" charset="0"/>
                <a:ea typeface="Calibri" pitchFamily="34" charset="-122"/>
                <a:cs typeface="Calibri" pitchFamily="34" charset="-120"/>
              </a:rPr>
              <a:t>What should we do?</a:t>
            </a:r>
            <a:endParaRPr lang="en-US" sz="1150" dirty="0"/>
          </a:p>
        </p:txBody>
      </p:sp>
      <p:sp>
        <p:nvSpPr>
          <p:cNvPr id="23" name="Text 21"/>
          <p:cNvSpPr txBox="1"/>
          <p:nvPr/>
        </p:nvSpPr>
        <p:spPr>
          <a:xfrm>
            <a:off x="6035040" y="4736592"/>
            <a:ext cx="4480560" cy="621792"/>
          </a:xfrm>
          <a:prstGeom prst="rect">
            <a:avLst/>
          </a:prstGeom>
          <a:noFill/>
          <a:ln/>
        </p:spPr>
        <p:txBody>
          <a:bodyPr wrap="square" lIns="0" tIns="0" rIns="0" bIns="0" rtlCol="0" anchor="t"/>
          <a:lstStyle/>
          <a:p>
            <a:pPr indent="0" marL="0">
              <a:buNone/>
            </a:pPr>
            <a:r>
              <a:rPr lang="en-US" sz="1200" dirty="0">
                <a:solidFill>
                  <a:srgbClr val="10222C"/>
                </a:solidFill>
                <a:latin typeface="Calibri" pitchFamily="34" charset="0"/>
                <a:ea typeface="Calibri" pitchFamily="34" charset="-122"/>
                <a:cs typeface="Calibri" pitchFamily="34" charset="-120"/>
              </a:rPr>
              <a:t>Out of scope. Evacuation decisions need authority and liability we do not have.</a:t>
            </a:r>
            <a:endParaRPr lang="en-US" sz="1200" dirty="0"/>
          </a:p>
        </p:txBody>
      </p:sp>
      <p:sp>
        <p:nvSpPr>
          <p:cNvPr id="24" name="Text 22"/>
          <p:cNvSpPr txBox="1"/>
          <p:nvPr/>
        </p:nvSpPr>
        <p:spPr>
          <a:xfrm>
            <a:off x="566928" y="5760720"/>
            <a:ext cx="10149840" cy="512064"/>
          </a:xfrm>
          <a:prstGeom prst="rect">
            <a:avLst/>
          </a:prstGeom>
          <a:noFill/>
          <a:ln/>
        </p:spPr>
        <p:txBody>
          <a:bodyPr wrap="square" lIns="0" tIns="0" rIns="0" bIns="0" rtlCol="0" anchor="ctr"/>
          <a:lstStyle/>
          <a:p>
            <a:pPr indent="0" marL="0">
              <a:buNone/>
            </a:pPr>
            <a:r>
              <a:rPr lang="en-US" sz="1250" i="1" dirty="0">
                <a:solidFill>
                  <a:srgbClr val="0B3C5D"/>
                </a:solidFill>
                <a:latin typeface="Calibri" pitchFamily="34" charset="0"/>
                <a:ea typeface="Calibri" pitchFamily="34" charset="-122"/>
                <a:cs typeface="Calibri" pitchFamily="34" charset="-120"/>
              </a:rPr>
              <a:t>A global forecast system already publishes discharge for this cell. Our contribution is to correct it locally and translate it into Vietnam's own alert stages at sub-basin scale — not to replace it.</a:t>
            </a:r>
            <a:endParaRPr lang="en-US" sz="1250" dirty="0"/>
          </a:p>
        </p:txBody>
      </p:sp>
      <p:sp>
        <p:nvSpPr>
          <p:cNvPr id="25" name="Text 23"/>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DATA REQUIREMENTS</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Six inputs, one daily table</a:t>
            </a:r>
            <a:endParaRPr lang="en-US" sz="3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0149840" cy="914400"/>
        </p:xfrm>
        <a:graphic>
          <a:graphicData uri="http://schemas.openxmlformats.org/drawingml/2006/table">
            <a:tbl>
              <a:tblPr/>
              <a:tblGrid>
                <a:gridCol w="2971800"/>
                <a:gridCol w="3200400"/>
                <a:gridCol w="2514600"/>
                <a:gridCol w="1463040"/>
              </a:tblGrid>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Role in the model</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Span / resolution</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River discharge (GloFAS v4)</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Target variable and lag features</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1984–2026 · daily · ~5 km</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Collected</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Rainfall, temperature, wind (ERA5)</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Main predictors, aggregated by sub-basin</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2010–2026 · daily &amp; hourly</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Collected</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Archived rainfall forecasts</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Operational scenario — what was knowable in advance</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2022–2026 · daily</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Collected</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River centre-lines (OpenStreetMap)</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Assign grid cells to the correct river</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Current snapshot</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Collected</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Legal alert thresholds</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Defines the classification target</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Decision 05/2020/QD-TTg</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Verified</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Documented flood peaks</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Calibrates water level to discharge</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 15 events, 1999–2026</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c>
                  <a:txBody>
                    <a:bodyPr/>
                    <a:lstStyle/>
                    <a:p>
                      <a:pPr indent="0" marL="0">
                        <a:buNone/>
                      </a:pPr>
                      <a:r>
                        <a:rPr lang="en-US" sz="1150" dirty="0">
                          <a:solidFill>
                            <a:srgbClr val="10222C"/>
                          </a:solidFill>
                          <a:latin typeface="Calibri" pitchFamily="34" charset="0"/>
                          <a:ea typeface="Calibri" pitchFamily="34" charset="-122"/>
                          <a:cs typeface="Calibri" pitchFamily="34" charset="-120"/>
                        </a:rPr>
                        <a:t>In progress</a:t>
                      </a:r>
                      <a:endParaRPr lang="en-US" sz="1150" dirty="0">
                        <a:latin typeface="Calibri" charset="0"/>
                        <a:ea typeface="Calibri" charset="0"/>
                        <a:cs typeface="Calibri" charset="0"/>
                      </a:endParaRPr>
                    </a:p>
                  </a:txBody>
                  <a:tcPr marL="91440" marR="91440" marT="45720" marB="45720" anchor="ctr">
                    <a:lnL w="9525" cap="flat" cmpd="sng" algn="ctr">
                      <a:solidFill>
                        <a:srgbClr val="D6E0E4"/>
                      </a:solidFill>
                      <a:prstDash val="solid"/>
                      <a:round/>
                      <a:headEnd type="none" w="med" len="med"/>
                      <a:tailEnd type="none" w="med" len="med"/>
                    </a:lnL>
                    <a:lnR w="9525" cap="flat" cmpd="sng" algn="ctr">
                      <a:solidFill>
                        <a:srgbClr val="D6E0E4"/>
                      </a:solidFill>
                      <a:prstDash val="solid"/>
                      <a:round/>
                      <a:headEnd type="none" w="med" len="med"/>
                      <a:tailEnd type="none" w="med" len="med"/>
                    </a:lnR>
                    <a:lnT w="9525" cap="flat" cmpd="sng" algn="ctr">
                      <a:solidFill>
                        <a:srgbClr val="D6E0E4"/>
                      </a:solidFill>
                      <a:prstDash val="solid"/>
                      <a:round/>
                      <a:headEnd type="none" w="med" len="med"/>
                      <a:tailEnd type="none" w="med" len="med"/>
                    </a:lnT>
                    <a:lnB w="9525" cap="flat" cmpd="sng" algn="ctr">
                      <a:solidFill>
                        <a:srgbClr val="D6E0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5166360"/>
            <a:ext cx="10149840" cy="365760"/>
          </a:xfrm>
          <a:prstGeom prst="rect">
            <a:avLst/>
          </a:prstGeom>
          <a:noFill/>
          <a:ln/>
        </p:spPr>
        <p:txBody>
          <a:bodyPr wrap="square" lIns="0" tIns="0" rIns="0" bIns="0" rtlCol="0" anchor="ctr"/>
          <a:lstStyle/>
          <a:p>
            <a:pPr indent="0" marL="0">
              <a:buNone/>
            </a:pPr>
            <a:r>
              <a:rPr lang="en-US" sz="1250" b="1" dirty="0">
                <a:solidFill>
                  <a:srgbClr val="0B3C5D"/>
                </a:solidFill>
                <a:latin typeface="Calibri" pitchFamily="34" charset="0"/>
                <a:ea typeface="Calibri" pitchFamily="34" charset="-122"/>
                <a:cs typeface="Calibri" pitchFamily="34" charset="-120"/>
              </a:rPr>
              <a:t>All sources are open and free. </a:t>
            </a:r>
            <a:pPr indent="0" marL="0">
              <a:buNone/>
            </a:pPr>
            <a:r>
              <a:rPr lang="en-US" sz="1250" dirty="0">
                <a:solidFill>
                  <a:srgbClr val="10222C"/>
                </a:solidFill>
                <a:latin typeface="Calibri" pitchFamily="34" charset="0"/>
                <a:ea typeface="Calibri" pitchFamily="34" charset="-122"/>
                <a:cs typeface="Calibri" pitchFamily="34" charset="-120"/>
              </a:rPr>
              <a:t>Open-Meteo data is published under CC BY 4.0 and is cited accordingly; the total project cost is zero.</a:t>
            </a:r>
            <a:endParaRPr lang="en-US" sz="1250" dirty="0"/>
          </a:p>
        </p:txBody>
      </p:sp>
      <p:sp>
        <p:nvSpPr>
          <p:cNvPr id="6" name="Text 3"/>
          <p:cNvSpPr txBox="1"/>
          <p:nvPr/>
        </p:nvSpPr>
        <p:spPr>
          <a:xfrm>
            <a:off x="566928" y="5577840"/>
            <a:ext cx="10149840" cy="512064"/>
          </a:xfrm>
          <a:prstGeom prst="rect">
            <a:avLst/>
          </a:prstGeom>
          <a:noFill/>
          <a:ln/>
        </p:spPr>
        <p:txBody>
          <a:bodyPr wrap="square" lIns="0" tIns="0" rIns="0" bIns="0" rtlCol="0" anchor="t"/>
          <a:lstStyle/>
          <a:p>
            <a:pPr indent="0" marL="0">
              <a:buNone/>
            </a:pPr>
            <a:r>
              <a:rPr lang="en-US" sz="1200" i="1" dirty="0">
                <a:solidFill>
                  <a:srgbClr val="8A4A0C"/>
                </a:solidFill>
                <a:latin typeface="Calibri" pitchFamily="34" charset="0"/>
                <a:ea typeface="Calibri" pitchFamily="34" charset="-122"/>
                <a:cs typeface="Calibri" pitchFamily="34" charset="-120"/>
              </a:rPr>
              <a:t>The last row is the critical path: without documented flood peaks the alert-stage target cannot be defined, so the classification problem cannot be evaluated.</a:t>
            </a:r>
            <a:endParaRPr lang="en-US" sz="1200" dirty="0"/>
          </a:p>
        </p:txBody>
      </p:sp>
      <p:sp>
        <p:nvSpPr>
          <p:cNvPr id="7" name="Text 4"/>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COLLECTION METHOD</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How the data is collected</a:t>
            </a:r>
            <a:endParaRPr lang="en-US" sz="3800" dirty="0"/>
          </a:p>
        </p:txBody>
      </p:sp>
      <p:sp>
        <p:nvSpPr>
          <p:cNvPr id="4" name="Shape 2"/>
          <p:cNvSpPr/>
          <p:nvPr/>
        </p:nvSpPr>
        <p:spPr>
          <a:xfrm>
            <a:off x="566928" y="1517904"/>
            <a:ext cx="2377440" cy="1755648"/>
          </a:xfrm>
          <a:prstGeom prst="roundRect">
            <a:avLst>
              <a:gd name="adj" fmla="val 4167"/>
            </a:avLst>
          </a:prstGeom>
          <a:solidFill>
            <a:srgbClr val="F4F7F8"/>
          </a:solidFill>
          <a:ln w="9525">
            <a:solidFill>
              <a:srgbClr val="D6E0E4"/>
            </a:solidFill>
            <a:prstDash val="solid"/>
          </a:ln>
        </p:spPr>
      </p:sp>
      <p:sp>
        <p:nvSpPr>
          <p:cNvPr id="5" name="Text 3"/>
          <p:cNvSpPr txBox="1"/>
          <p:nvPr/>
        </p:nvSpPr>
        <p:spPr>
          <a:xfrm>
            <a:off x="768096" y="1664208"/>
            <a:ext cx="457200" cy="329184"/>
          </a:xfrm>
          <a:prstGeom prst="rect">
            <a:avLst/>
          </a:prstGeom>
          <a:noFill/>
          <a:ln/>
        </p:spPr>
        <p:txBody>
          <a:bodyPr wrap="square" lIns="0" tIns="0" rIns="0" bIns="0" rtlCol="0" anchor="ctr"/>
          <a:lstStyle/>
          <a:p>
            <a:pPr indent="0" marL="0">
              <a:buNone/>
            </a:pPr>
            <a:r>
              <a:rPr lang="en-US" sz="1500" b="1" dirty="0">
                <a:solidFill>
                  <a:srgbClr val="D4761A"/>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768096" y="2011680"/>
            <a:ext cx="2011680" cy="310896"/>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Select</a:t>
            </a:r>
            <a:endParaRPr lang="en-US" sz="1700" dirty="0"/>
          </a:p>
        </p:txBody>
      </p:sp>
      <p:sp>
        <p:nvSpPr>
          <p:cNvPr id="7" name="Text 5"/>
          <p:cNvSpPr txBox="1"/>
          <p:nvPr/>
        </p:nvSpPr>
        <p:spPr>
          <a:xfrm>
            <a:off x="768096" y="2340864"/>
            <a:ext cx="2011680" cy="841248"/>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Scan a 361-cell grid; pick the cell whose inferred catchment matches the real basin</a:t>
            </a:r>
            <a:endParaRPr lang="en-US" sz="1050" dirty="0"/>
          </a:p>
        </p:txBody>
      </p:sp>
      <p:sp>
        <p:nvSpPr>
          <p:cNvPr id="8" name="Text 6"/>
          <p:cNvSpPr txBox="1"/>
          <p:nvPr/>
        </p:nvSpPr>
        <p:spPr>
          <a:xfrm>
            <a:off x="2944368" y="2212848"/>
            <a:ext cx="210312" cy="365760"/>
          </a:xfrm>
          <a:prstGeom prst="rect">
            <a:avLst/>
          </a:prstGeom>
          <a:noFill/>
          <a:ln/>
        </p:spPr>
        <p:txBody>
          <a:bodyPr wrap="square" lIns="0" tIns="0" rIns="0" bIns="0" rtlCol="0" anchor="ctr"/>
          <a:lstStyle/>
          <a:p>
            <a:pPr algn="ctr" indent="0" marL="0">
              <a:buNone/>
            </a:pPr>
            <a:r>
              <a:rPr lang="en-US" sz="1700" dirty="0">
                <a:solidFill>
                  <a:srgbClr val="6E8A98"/>
                </a:solidFill>
                <a:latin typeface="Calibri" pitchFamily="34" charset="0"/>
                <a:ea typeface="Calibri" pitchFamily="34" charset="-122"/>
                <a:cs typeface="Calibri" pitchFamily="34" charset="-120"/>
              </a:rPr>
              <a:t>→</a:t>
            </a:r>
            <a:endParaRPr lang="en-US" sz="1700" dirty="0"/>
          </a:p>
        </p:txBody>
      </p:sp>
      <p:sp>
        <p:nvSpPr>
          <p:cNvPr id="9" name="Shape 7"/>
          <p:cNvSpPr/>
          <p:nvPr/>
        </p:nvSpPr>
        <p:spPr>
          <a:xfrm>
            <a:off x="3154680" y="1517904"/>
            <a:ext cx="2377440" cy="1755648"/>
          </a:xfrm>
          <a:prstGeom prst="roundRect">
            <a:avLst>
              <a:gd name="adj" fmla="val 4167"/>
            </a:avLst>
          </a:prstGeom>
          <a:solidFill>
            <a:srgbClr val="F4F7F8"/>
          </a:solidFill>
          <a:ln w="9525">
            <a:solidFill>
              <a:srgbClr val="D6E0E4"/>
            </a:solidFill>
            <a:prstDash val="solid"/>
          </a:ln>
        </p:spPr>
      </p:sp>
      <p:sp>
        <p:nvSpPr>
          <p:cNvPr id="10" name="Text 8"/>
          <p:cNvSpPr txBox="1"/>
          <p:nvPr/>
        </p:nvSpPr>
        <p:spPr>
          <a:xfrm>
            <a:off x="3355848" y="1664208"/>
            <a:ext cx="457200" cy="329184"/>
          </a:xfrm>
          <a:prstGeom prst="rect">
            <a:avLst/>
          </a:prstGeom>
          <a:noFill/>
          <a:ln/>
        </p:spPr>
        <p:txBody>
          <a:bodyPr wrap="square" lIns="0" tIns="0" rIns="0" bIns="0" rtlCol="0" anchor="ctr"/>
          <a:lstStyle/>
          <a:p>
            <a:pPr indent="0" marL="0">
              <a:buNone/>
            </a:pPr>
            <a:r>
              <a:rPr lang="en-US" sz="1500" b="1" dirty="0">
                <a:solidFill>
                  <a:srgbClr val="D4761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3355848" y="2011680"/>
            <a:ext cx="2011680" cy="310896"/>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Crawl</a:t>
            </a:r>
            <a:endParaRPr lang="en-US" sz="1700" dirty="0"/>
          </a:p>
        </p:txBody>
      </p:sp>
      <p:sp>
        <p:nvSpPr>
          <p:cNvPr id="12" name="Text 10"/>
          <p:cNvSpPr txBox="1"/>
          <p:nvPr/>
        </p:nvSpPr>
        <p:spPr>
          <a:xfrm>
            <a:off x="3355848" y="2340864"/>
            <a:ext cx="2011680" cy="841248"/>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Independent tasks, one Parquet file each; retry, cache and checkpoint</a:t>
            </a:r>
            <a:endParaRPr lang="en-US" sz="1050" dirty="0"/>
          </a:p>
        </p:txBody>
      </p:sp>
      <p:sp>
        <p:nvSpPr>
          <p:cNvPr id="13" name="Text 11"/>
          <p:cNvSpPr txBox="1"/>
          <p:nvPr/>
        </p:nvSpPr>
        <p:spPr>
          <a:xfrm>
            <a:off x="5532120" y="2212848"/>
            <a:ext cx="210312" cy="365760"/>
          </a:xfrm>
          <a:prstGeom prst="rect">
            <a:avLst/>
          </a:prstGeom>
          <a:noFill/>
          <a:ln/>
        </p:spPr>
        <p:txBody>
          <a:bodyPr wrap="square" lIns="0" tIns="0" rIns="0" bIns="0" rtlCol="0" anchor="ctr"/>
          <a:lstStyle/>
          <a:p>
            <a:pPr algn="ctr" indent="0" marL="0">
              <a:buNone/>
            </a:pPr>
            <a:r>
              <a:rPr lang="en-US" sz="1700" dirty="0">
                <a:solidFill>
                  <a:srgbClr val="6E8A98"/>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742432" y="1517904"/>
            <a:ext cx="2377440" cy="1755648"/>
          </a:xfrm>
          <a:prstGeom prst="roundRect">
            <a:avLst>
              <a:gd name="adj" fmla="val 4167"/>
            </a:avLst>
          </a:prstGeom>
          <a:solidFill>
            <a:srgbClr val="F4F7F8"/>
          </a:solidFill>
          <a:ln w="9525">
            <a:solidFill>
              <a:srgbClr val="D6E0E4"/>
            </a:solidFill>
            <a:prstDash val="solid"/>
          </a:ln>
        </p:spPr>
      </p:sp>
      <p:sp>
        <p:nvSpPr>
          <p:cNvPr id="15" name="Text 13"/>
          <p:cNvSpPr txBox="1"/>
          <p:nvPr/>
        </p:nvSpPr>
        <p:spPr>
          <a:xfrm>
            <a:off x="5943600" y="1664208"/>
            <a:ext cx="457200" cy="329184"/>
          </a:xfrm>
          <a:prstGeom prst="rect">
            <a:avLst/>
          </a:prstGeom>
          <a:noFill/>
          <a:ln/>
        </p:spPr>
        <p:txBody>
          <a:bodyPr wrap="square" lIns="0" tIns="0" rIns="0" bIns="0" rtlCol="0" anchor="ctr"/>
          <a:lstStyle/>
          <a:p>
            <a:pPr indent="0" marL="0">
              <a:buNone/>
            </a:pPr>
            <a:r>
              <a:rPr lang="en-US" sz="1500" b="1" dirty="0">
                <a:solidFill>
                  <a:srgbClr val="D4761A"/>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5943600" y="2011680"/>
            <a:ext cx="2011680" cy="310896"/>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Clean</a:t>
            </a:r>
            <a:endParaRPr lang="en-US" sz="1700" dirty="0"/>
          </a:p>
        </p:txBody>
      </p:sp>
      <p:sp>
        <p:nvSpPr>
          <p:cNvPr id="17" name="Text 15"/>
          <p:cNvSpPr txBox="1"/>
          <p:nvPr/>
        </p:nvSpPr>
        <p:spPr>
          <a:xfrm>
            <a:off x="5943600" y="2340864"/>
            <a:ext cx="2011680" cy="841248"/>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Normalise to Vietnam time, aggregate hourly to daily, validate and fail loudly</a:t>
            </a:r>
            <a:endParaRPr lang="en-US" sz="1050" dirty="0"/>
          </a:p>
        </p:txBody>
      </p:sp>
      <p:sp>
        <p:nvSpPr>
          <p:cNvPr id="18" name="Text 16"/>
          <p:cNvSpPr txBox="1"/>
          <p:nvPr/>
        </p:nvSpPr>
        <p:spPr>
          <a:xfrm>
            <a:off x="8119872" y="2212848"/>
            <a:ext cx="210312" cy="365760"/>
          </a:xfrm>
          <a:prstGeom prst="rect">
            <a:avLst/>
          </a:prstGeom>
          <a:noFill/>
          <a:ln/>
        </p:spPr>
        <p:txBody>
          <a:bodyPr wrap="square" lIns="0" tIns="0" rIns="0" bIns="0" rtlCol="0" anchor="ctr"/>
          <a:lstStyle/>
          <a:p>
            <a:pPr algn="ctr" indent="0" marL="0">
              <a:buNone/>
            </a:pPr>
            <a:r>
              <a:rPr lang="en-US" sz="1700" dirty="0">
                <a:solidFill>
                  <a:srgbClr val="6E8A98"/>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8330184" y="1517904"/>
            <a:ext cx="2377440" cy="1755648"/>
          </a:xfrm>
          <a:prstGeom prst="roundRect">
            <a:avLst>
              <a:gd name="adj" fmla="val 4167"/>
            </a:avLst>
          </a:prstGeom>
          <a:solidFill>
            <a:srgbClr val="F4F7F8"/>
          </a:solidFill>
          <a:ln w="9525">
            <a:solidFill>
              <a:srgbClr val="D6E0E4"/>
            </a:solidFill>
            <a:prstDash val="solid"/>
          </a:ln>
        </p:spPr>
      </p:sp>
      <p:sp>
        <p:nvSpPr>
          <p:cNvPr id="20" name="Text 18"/>
          <p:cNvSpPr txBox="1"/>
          <p:nvPr/>
        </p:nvSpPr>
        <p:spPr>
          <a:xfrm>
            <a:off x="8531352" y="1664208"/>
            <a:ext cx="457200" cy="329184"/>
          </a:xfrm>
          <a:prstGeom prst="rect">
            <a:avLst/>
          </a:prstGeom>
          <a:noFill/>
          <a:ln/>
        </p:spPr>
        <p:txBody>
          <a:bodyPr wrap="square" lIns="0" tIns="0" rIns="0" bIns="0" rtlCol="0" anchor="ctr"/>
          <a:lstStyle/>
          <a:p>
            <a:pPr indent="0" marL="0">
              <a:buNone/>
            </a:pPr>
            <a:r>
              <a:rPr lang="en-US" sz="1500" b="1" dirty="0">
                <a:solidFill>
                  <a:srgbClr val="D4761A"/>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8531352" y="2011680"/>
            <a:ext cx="2011680" cy="310896"/>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Assemble</a:t>
            </a:r>
            <a:endParaRPr lang="en-US" sz="1700" dirty="0"/>
          </a:p>
        </p:txBody>
      </p:sp>
      <p:sp>
        <p:nvSpPr>
          <p:cNvPr id="22" name="Text 20"/>
          <p:cNvSpPr txBox="1"/>
          <p:nvPr/>
        </p:nvSpPr>
        <p:spPr>
          <a:xfrm>
            <a:off x="8531352" y="2340864"/>
            <a:ext cx="2011680" cy="841248"/>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Average rainfall over three sub-basins, build lag features, prevent leakage</a:t>
            </a:r>
            <a:endParaRPr lang="en-US" sz="1050" dirty="0"/>
          </a:p>
        </p:txBody>
      </p:sp>
      <p:sp>
        <p:nvSpPr>
          <p:cNvPr id="23" name="Text 21"/>
          <p:cNvSpPr txBox="1"/>
          <p:nvPr/>
        </p:nvSpPr>
        <p:spPr>
          <a:xfrm>
            <a:off x="566928" y="3493008"/>
            <a:ext cx="10149840" cy="292608"/>
          </a:xfrm>
          <a:prstGeom prst="rect">
            <a:avLst/>
          </a:prstGeom>
          <a:noFill/>
          <a:ln/>
        </p:spPr>
        <p:txBody>
          <a:bodyPr wrap="square" lIns="0" tIns="0" rIns="0" bIns="0" rtlCol="0" anchor="ctr"/>
          <a:lstStyle/>
          <a:p>
            <a:pPr indent="0" marL="0">
              <a:buNone/>
            </a:pPr>
            <a:r>
              <a:rPr lang="en-US" sz="1300" b="1" spc="100" kern="0" dirty="0">
                <a:solidFill>
                  <a:srgbClr val="1D7A8C"/>
                </a:solidFill>
                <a:latin typeface="Calibri" pitchFamily="34" charset="0"/>
                <a:ea typeface="Calibri" pitchFamily="34" charset="-122"/>
                <a:cs typeface="Calibri" pitchFamily="34" charset="-120"/>
              </a:rPr>
              <a:t>Design decisions that made it work</a:t>
            </a:r>
            <a:endParaRPr lang="en-US" sz="1300" dirty="0"/>
          </a:p>
        </p:txBody>
      </p:sp>
      <p:sp>
        <p:nvSpPr>
          <p:cNvPr id="24" name="Text 22"/>
          <p:cNvSpPr txBox="1"/>
          <p:nvPr/>
        </p:nvSpPr>
        <p:spPr>
          <a:xfrm>
            <a:off x="566928" y="3822192"/>
            <a:ext cx="1014984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0222C"/>
                </a:solidFill>
                <a:latin typeface="Calibri" pitchFamily="34" charset="0"/>
                <a:ea typeface="Calibri" pitchFamily="34" charset="-122"/>
                <a:cs typeface="Calibri" pitchFamily="34" charset="-120"/>
              </a:rPr>
              <a:t>Every task writes its own file, so an interrupted run resumes for free and never re-requests what it already has.</a:t>
            </a:r>
            <a:endParaRPr lang="en-US" sz="1300" dirty="0"/>
          </a:p>
          <a:p>
            <a:pPr marL="342900" indent="-342900">
              <a:spcAft>
                <a:spcPts val="800"/>
              </a:spcAft>
              <a:buSzPct val="100000"/>
              <a:buChar char="•"/>
            </a:pPr>
            <a:r>
              <a:rPr lang="en-US" sz="1300" dirty="0">
                <a:solidFill>
                  <a:srgbClr val="10222C"/>
                </a:solidFill>
                <a:latin typeface="Calibri" pitchFamily="34" charset="0"/>
                <a:ea typeface="Calibri" pitchFamily="34" charset="-122"/>
                <a:cs typeface="Calibri" pitchFamily="34" charset="-120"/>
              </a:rPr>
              <a:t>Request pacing adapts to the server: it widens on rate-limit responses and tightens again when the run is clean.</a:t>
            </a:r>
            <a:endParaRPr lang="en-US" sz="1300" dirty="0"/>
          </a:p>
          <a:p>
            <a:pPr marL="342900" indent="-342900">
              <a:spcAft>
                <a:spcPts val="800"/>
              </a:spcAft>
              <a:buSzPct val="100000"/>
              <a:buChar char="•"/>
            </a:pPr>
            <a:r>
              <a:rPr lang="en-US" sz="1300" dirty="0">
                <a:solidFill>
                  <a:srgbClr val="10222C"/>
                </a:solidFill>
                <a:latin typeface="Calibri" pitchFamily="34" charset="0"/>
                <a:ea typeface="Calibri" pitchFamily="34" charset="-122"/>
                <a:cs typeface="Calibri" pitchFamily="34" charset="-120"/>
              </a:rPr>
              <a:t>A lock file prevents two crawlers running at once — our own duplicate processes, not the provider, caused every rate-limit error we saw.</a:t>
            </a:r>
            <a:endParaRPr lang="en-US" sz="1300" dirty="0"/>
          </a:p>
          <a:p>
            <a:pPr marL="342900" indent="-342900">
              <a:spcAft>
                <a:spcPts val="800"/>
              </a:spcAft>
              <a:buSzPct val="100000"/>
              <a:buChar char="•"/>
            </a:pPr>
            <a:r>
              <a:rPr lang="en-US" sz="1300" dirty="0">
                <a:solidFill>
                  <a:srgbClr val="10222C"/>
                </a:solidFill>
                <a:latin typeface="Calibri" pitchFamily="34" charset="0"/>
                <a:ea typeface="Calibri" pitchFamily="34" charset="-122"/>
                <a:cs typeface="Calibri" pitchFamily="34" charset="-120"/>
              </a:rPr>
              <a:t>Manual collection is planned as manual: reading bulletins for flood peaks is scheduled work, not an afterthought.</a:t>
            </a:r>
            <a:endParaRPr lang="en-US" sz="1300" dirty="0"/>
          </a:p>
        </p:txBody>
      </p:sp>
      <p:sp>
        <p:nvSpPr>
          <p:cNvPr id="25" name="Text 23"/>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FEASIBILITY — ALREADY DEMONSTRATED</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The proposal is not hypothetical</a:t>
            </a:r>
            <a:endParaRPr lang="en-US" sz="3800" dirty="0"/>
          </a:p>
        </p:txBody>
      </p:sp>
      <p:sp>
        <p:nvSpPr>
          <p:cNvPr id="4" name="Shape 2"/>
          <p:cNvSpPr/>
          <p:nvPr/>
        </p:nvSpPr>
        <p:spPr>
          <a:xfrm>
            <a:off x="566928" y="1517904"/>
            <a:ext cx="2331720" cy="1243584"/>
          </a:xfrm>
          <a:prstGeom prst="roundRect">
            <a:avLst>
              <a:gd name="adj" fmla="val 5147"/>
            </a:avLst>
          </a:prstGeom>
          <a:solidFill>
            <a:srgbClr val="F4F7F8"/>
          </a:solidFill>
          <a:ln w="9525">
            <a:solidFill>
              <a:srgbClr val="D6E0E4"/>
            </a:solidFill>
            <a:prstDash val="solid"/>
          </a:ln>
        </p:spPr>
      </p:sp>
      <p:sp>
        <p:nvSpPr>
          <p:cNvPr id="5" name="Text 3"/>
          <p:cNvSpPr txBox="1"/>
          <p:nvPr/>
        </p:nvSpPr>
        <p:spPr>
          <a:xfrm>
            <a:off x="713232" y="1645920"/>
            <a:ext cx="2039112" cy="548640"/>
          </a:xfrm>
          <a:prstGeom prst="rect">
            <a:avLst/>
          </a:prstGeom>
          <a:noFill/>
          <a:ln/>
        </p:spPr>
        <p:txBody>
          <a:bodyPr wrap="square" lIns="0" tIns="0" rIns="0" bIns="0" rtlCol="0" anchor="ctr"/>
          <a:lstStyle/>
          <a:p>
            <a:pPr indent="0" marL="0">
              <a:buNone/>
            </a:pPr>
            <a:r>
              <a:rPr lang="en-US" sz="3100" b="1" dirty="0">
                <a:solidFill>
                  <a:srgbClr val="0B3C5D"/>
                </a:solidFill>
                <a:latin typeface="Cambria" pitchFamily="34" charset="0"/>
                <a:ea typeface="Cambria" pitchFamily="34" charset="-122"/>
                <a:cs typeface="Cambria" pitchFamily="34" charset="-120"/>
              </a:rPr>
              <a:t>6,087</a:t>
            </a:r>
            <a:pPr indent="0" marL="0">
              <a:buNone/>
            </a:pPr>
            <a:r>
              <a:rPr lang="en-US" sz="1300" dirty="0">
                <a:solidFill>
                  <a:srgbClr val="6E8A98"/>
                </a:solidFill>
                <a:latin typeface="Cambria" pitchFamily="34" charset="0"/>
                <a:ea typeface="Cambria" pitchFamily="34" charset="-122"/>
                <a:cs typeface="Cambria" pitchFamily="34" charset="-120"/>
              </a:rPr>
              <a:t> × 71</a:t>
            </a:r>
            <a:endParaRPr lang="en-US" sz="3100" dirty="0"/>
          </a:p>
        </p:txBody>
      </p:sp>
      <p:sp>
        <p:nvSpPr>
          <p:cNvPr id="6" name="Text 4"/>
          <p:cNvSpPr txBox="1"/>
          <p:nvPr/>
        </p:nvSpPr>
        <p:spPr>
          <a:xfrm>
            <a:off x="713232" y="2194560"/>
            <a:ext cx="2039112" cy="457200"/>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rows × columns in the assembled daily table</a:t>
            </a:r>
            <a:endParaRPr lang="en-US" sz="1050" dirty="0"/>
          </a:p>
        </p:txBody>
      </p:sp>
      <p:sp>
        <p:nvSpPr>
          <p:cNvPr id="7" name="Shape 5"/>
          <p:cNvSpPr/>
          <p:nvPr/>
        </p:nvSpPr>
        <p:spPr>
          <a:xfrm>
            <a:off x="3054096" y="1517904"/>
            <a:ext cx="2331720" cy="1243584"/>
          </a:xfrm>
          <a:prstGeom prst="roundRect">
            <a:avLst>
              <a:gd name="adj" fmla="val 5147"/>
            </a:avLst>
          </a:prstGeom>
          <a:solidFill>
            <a:srgbClr val="F4F7F8"/>
          </a:solidFill>
          <a:ln w="9525">
            <a:solidFill>
              <a:srgbClr val="D6E0E4"/>
            </a:solidFill>
            <a:prstDash val="solid"/>
          </a:ln>
        </p:spPr>
      </p:sp>
      <p:sp>
        <p:nvSpPr>
          <p:cNvPr id="8" name="Text 6"/>
          <p:cNvSpPr txBox="1"/>
          <p:nvPr/>
        </p:nvSpPr>
        <p:spPr>
          <a:xfrm>
            <a:off x="3200400" y="1645920"/>
            <a:ext cx="2039112" cy="548640"/>
          </a:xfrm>
          <a:prstGeom prst="rect">
            <a:avLst/>
          </a:prstGeom>
          <a:noFill/>
          <a:ln/>
        </p:spPr>
        <p:txBody>
          <a:bodyPr wrap="square" lIns="0" tIns="0" rIns="0" bIns="0" rtlCol="0" anchor="ctr"/>
          <a:lstStyle/>
          <a:p>
            <a:pPr indent="0" marL="0">
              <a:buNone/>
            </a:pPr>
            <a:r>
              <a:rPr lang="en-US" sz="3100" b="1" dirty="0">
                <a:solidFill>
                  <a:srgbClr val="0B3C5D"/>
                </a:solidFill>
                <a:latin typeface="Cambria" pitchFamily="34" charset="0"/>
                <a:ea typeface="Cambria" pitchFamily="34" charset="-122"/>
                <a:cs typeface="Cambria" pitchFamily="34" charset="-120"/>
              </a:rPr>
              <a:t>2,929</a:t>
            </a:r>
            <a:pPr indent="0" marL="0">
              <a:buNone/>
            </a:pPr>
            <a:r>
              <a:rPr lang="en-US" sz="1300" dirty="0">
                <a:solidFill>
                  <a:srgbClr val="6E8A98"/>
                </a:solidFill>
                <a:latin typeface="Cambria" pitchFamily="34" charset="0"/>
                <a:ea typeface="Cambria" pitchFamily="34" charset="-122"/>
                <a:cs typeface="Cambria" pitchFamily="34" charset="-120"/>
              </a:rPr>
              <a:t> mm</a:t>
            </a:r>
            <a:endParaRPr lang="en-US" sz="3100" dirty="0"/>
          </a:p>
        </p:txBody>
      </p:sp>
      <p:sp>
        <p:nvSpPr>
          <p:cNvPr id="9" name="Text 7"/>
          <p:cNvSpPr txBox="1"/>
          <p:nvPr/>
        </p:nvSpPr>
        <p:spPr>
          <a:xfrm>
            <a:off x="3200400" y="2194560"/>
            <a:ext cx="2039112" cy="457200"/>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mean annual rainfall — matches Hue's climate</a:t>
            </a:r>
            <a:endParaRPr lang="en-US" sz="1050" dirty="0"/>
          </a:p>
        </p:txBody>
      </p:sp>
      <p:sp>
        <p:nvSpPr>
          <p:cNvPr id="10" name="Shape 8"/>
          <p:cNvSpPr/>
          <p:nvPr/>
        </p:nvSpPr>
        <p:spPr>
          <a:xfrm>
            <a:off x="5541264" y="1517904"/>
            <a:ext cx="2331720" cy="1243584"/>
          </a:xfrm>
          <a:prstGeom prst="roundRect">
            <a:avLst>
              <a:gd name="adj" fmla="val 5147"/>
            </a:avLst>
          </a:prstGeom>
          <a:solidFill>
            <a:srgbClr val="F4F7F8"/>
          </a:solidFill>
          <a:ln w="9525">
            <a:solidFill>
              <a:srgbClr val="D6E0E4"/>
            </a:solidFill>
            <a:prstDash val="solid"/>
          </a:ln>
        </p:spPr>
      </p:sp>
      <p:sp>
        <p:nvSpPr>
          <p:cNvPr id="11" name="Text 9"/>
          <p:cNvSpPr txBox="1"/>
          <p:nvPr/>
        </p:nvSpPr>
        <p:spPr>
          <a:xfrm>
            <a:off x="5687568" y="1645920"/>
            <a:ext cx="2039112" cy="548640"/>
          </a:xfrm>
          <a:prstGeom prst="rect">
            <a:avLst/>
          </a:prstGeom>
          <a:noFill/>
          <a:ln/>
        </p:spPr>
        <p:txBody>
          <a:bodyPr wrap="square" lIns="0" tIns="0" rIns="0" bIns="0" rtlCol="0" anchor="ctr"/>
          <a:lstStyle/>
          <a:p>
            <a:pPr indent="0" marL="0">
              <a:buNone/>
            </a:pPr>
            <a:r>
              <a:rPr lang="en-US" sz="3100" b="1" dirty="0">
                <a:solidFill>
                  <a:srgbClr val="1D7A8C"/>
                </a:solidFill>
                <a:latin typeface="Cambria" pitchFamily="34" charset="0"/>
                <a:ea typeface="Cambria" pitchFamily="34" charset="-122"/>
                <a:cs typeface="Cambria" pitchFamily="34" charset="-120"/>
              </a:rPr>
              <a:t>0.790</a:t>
            </a:r>
            <a:pPr indent="0" marL="0">
              <a:buNone/>
            </a:pPr>
            <a:endParaRPr lang="en-US" sz="3100" dirty="0"/>
          </a:p>
        </p:txBody>
      </p:sp>
      <p:sp>
        <p:nvSpPr>
          <p:cNvPr id="12" name="Text 10"/>
          <p:cNvSpPr txBox="1"/>
          <p:nvPr/>
        </p:nvSpPr>
        <p:spPr>
          <a:xfrm>
            <a:off x="5687568" y="2194560"/>
            <a:ext cx="2039112" cy="457200"/>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peak rainfall–discharge correlation, at 1-day lag</a:t>
            </a:r>
            <a:endParaRPr lang="en-US" sz="1050" dirty="0"/>
          </a:p>
        </p:txBody>
      </p:sp>
      <p:sp>
        <p:nvSpPr>
          <p:cNvPr id="13" name="Shape 11"/>
          <p:cNvSpPr/>
          <p:nvPr/>
        </p:nvSpPr>
        <p:spPr>
          <a:xfrm>
            <a:off x="8028432" y="1517904"/>
            <a:ext cx="2331720" cy="1243584"/>
          </a:xfrm>
          <a:prstGeom prst="roundRect">
            <a:avLst>
              <a:gd name="adj" fmla="val 5147"/>
            </a:avLst>
          </a:prstGeom>
          <a:solidFill>
            <a:srgbClr val="FDF1E3"/>
          </a:solidFill>
          <a:ln w="9525">
            <a:solidFill>
              <a:srgbClr val="D6E0E4"/>
            </a:solidFill>
            <a:prstDash val="solid"/>
          </a:ln>
        </p:spPr>
      </p:sp>
      <p:sp>
        <p:nvSpPr>
          <p:cNvPr id="14" name="Text 12"/>
          <p:cNvSpPr txBox="1"/>
          <p:nvPr/>
        </p:nvSpPr>
        <p:spPr>
          <a:xfrm>
            <a:off x="8174736" y="1645920"/>
            <a:ext cx="2039112" cy="548640"/>
          </a:xfrm>
          <a:prstGeom prst="rect">
            <a:avLst/>
          </a:prstGeom>
          <a:noFill/>
          <a:ln/>
        </p:spPr>
        <p:txBody>
          <a:bodyPr wrap="square" lIns="0" tIns="0" rIns="0" bIns="0" rtlCol="0" anchor="ctr"/>
          <a:lstStyle/>
          <a:p>
            <a:pPr indent="0" marL="0">
              <a:buNone/>
            </a:pPr>
            <a:r>
              <a:rPr lang="en-US" sz="3100" b="1" dirty="0">
                <a:solidFill>
                  <a:srgbClr val="8A4A0C"/>
                </a:solidFill>
                <a:latin typeface="Cambria" pitchFamily="34" charset="0"/>
                <a:ea typeface="Cambria" pitchFamily="34" charset="-122"/>
                <a:cs typeface="Cambria" pitchFamily="34" charset="-120"/>
              </a:rPr>
              <a:t>7</a:t>
            </a:r>
            <a:pPr indent="0" marL="0">
              <a:buNone/>
            </a:pPr>
            <a:r>
              <a:rPr lang="en-US" sz="1300" dirty="0">
                <a:solidFill>
                  <a:srgbClr val="6E8A98"/>
                </a:solidFill>
                <a:latin typeface="Cambria" pitchFamily="34" charset="0"/>
                <a:ea typeface="Cambria" pitchFamily="34" charset="-122"/>
                <a:cs typeface="Cambria" pitchFamily="34" charset="-120"/>
              </a:rPr>
              <a:t> %</a:t>
            </a:r>
            <a:endParaRPr lang="en-US" sz="3100" dirty="0"/>
          </a:p>
        </p:txBody>
      </p:sp>
      <p:sp>
        <p:nvSpPr>
          <p:cNvPr id="15" name="Text 13"/>
          <p:cNvSpPr txBox="1"/>
          <p:nvPr/>
        </p:nvSpPr>
        <p:spPr>
          <a:xfrm>
            <a:off x="8174736" y="2194560"/>
            <a:ext cx="2039112" cy="457200"/>
          </a:xfrm>
          <a:prstGeom prst="rect">
            <a:avLst/>
          </a:prstGeom>
          <a:noFill/>
          <a:ln/>
        </p:spPr>
        <p:txBody>
          <a:bodyPr wrap="square" lIns="0" tIns="0" rIns="0" bIns="0" rtlCol="0" anchor="t"/>
          <a:lstStyle/>
          <a:p>
            <a:pPr indent="0" marL="0">
              <a:buNone/>
            </a:pPr>
            <a:r>
              <a:rPr lang="en-US" sz="1050" dirty="0">
                <a:solidFill>
                  <a:srgbClr val="10222C"/>
                </a:solidFill>
                <a:latin typeface="Calibri" pitchFamily="34" charset="0"/>
                <a:ea typeface="Calibri" pitchFamily="34" charset="-122"/>
                <a:cs typeface="Calibri" pitchFamily="34" charset="-120"/>
              </a:rPr>
              <a:t>catchment area error for the selected grid cell</a:t>
            </a:r>
            <a:endParaRPr lang="en-US" sz="1050" dirty="0"/>
          </a:p>
        </p:txBody>
      </p:sp>
      <p:graphicFrame>
        <p:nvGraphicFramePr>
          <p:cNvPr id="16" name="Chart 0" descr=""/>
          <p:cNvGraphicFramePr/>
          <p:nvPr/>
        </p:nvGraphicFramePr>
        <p:xfrm>
          <a:off x="566928" y="3017520"/>
          <a:ext cx="5760720" cy="27889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656832" y="3127248"/>
            <a:ext cx="4937760" cy="292608"/>
          </a:xfrm>
          <a:prstGeom prst="rect">
            <a:avLst/>
          </a:prstGeom>
          <a:noFill/>
          <a:ln/>
        </p:spPr>
        <p:txBody>
          <a:bodyPr wrap="square" lIns="0" tIns="0" rIns="0" bIns="0" rtlCol="0" anchor="ctr"/>
          <a:lstStyle/>
          <a:p>
            <a:pPr indent="0" marL="0">
              <a:buNone/>
            </a:pPr>
            <a:r>
              <a:rPr lang="en-US" sz="1300" b="1" spc="100" kern="0" dirty="0">
                <a:solidFill>
                  <a:srgbClr val="1D7A8C"/>
                </a:solidFill>
                <a:latin typeface="Calibri" pitchFamily="34" charset="0"/>
                <a:ea typeface="Calibri" pitchFamily="34" charset="-122"/>
                <a:cs typeface="Calibri" pitchFamily="34" charset="-120"/>
              </a:rPr>
              <a:t>What this establishes</a:t>
            </a:r>
            <a:endParaRPr lang="en-US" sz="1300" dirty="0"/>
          </a:p>
        </p:txBody>
      </p:sp>
      <p:sp>
        <p:nvSpPr>
          <p:cNvPr id="18" name="Text 15"/>
          <p:cNvSpPr txBox="1"/>
          <p:nvPr/>
        </p:nvSpPr>
        <p:spPr>
          <a:xfrm>
            <a:off x="6656832" y="3456432"/>
            <a:ext cx="4937760" cy="23317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0222C"/>
                </a:solidFill>
                <a:latin typeface="Calibri" pitchFamily="34" charset="0"/>
                <a:ea typeface="Calibri" pitchFamily="34" charset="-122"/>
                <a:cs typeface="Calibri" pitchFamily="34" charset="-120"/>
              </a:rPr>
              <a:t>The data is obtainable, and the physical signal we intend to model is present and strong.</a:t>
            </a:r>
            <a:endParaRPr lang="en-US" sz="1200" dirty="0"/>
          </a:p>
          <a:p>
            <a:pPr marL="342900" indent="-342900">
              <a:spcAft>
                <a:spcPts val="700"/>
              </a:spcAft>
              <a:buSzPct val="100000"/>
              <a:buChar char="•"/>
            </a:pPr>
            <a:r>
              <a:rPr lang="en-US" sz="1200" dirty="0">
                <a:solidFill>
                  <a:srgbClr val="10222C"/>
                </a:solidFill>
                <a:latin typeface="Calibri" pitchFamily="34" charset="0"/>
                <a:ea typeface="Calibri" pitchFamily="34" charset="-122"/>
                <a:cs typeface="Calibri" pitchFamily="34" charset="-120"/>
              </a:rPr>
              <a:t>Single-day rainfall outperforms 3-, 5- and 7-day accumulations — the basin responds fast, which supports a short forecast horizon.</a:t>
            </a:r>
            <a:endParaRPr lang="en-US" sz="1200" dirty="0"/>
          </a:p>
          <a:p>
            <a:pPr marL="342900" indent="-342900">
              <a:spcAft>
                <a:spcPts val="700"/>
              </a:spcAft>
              <a:buSzPct val="100000"/>
              <a:buChar char="•"/>
            </a:pPr>
            <a:r>
              <a:rPr lang="en-US" sz="1200" dirty="0">
                <a:solidFill>
                  <a:srgbClr val="10222C"/>
                </a:solidFill>
                <a:latin typeface="Calibri" pitchFamily="34" charset="0"/>
                <a:ea typeface="Calibri" pitchFamily="34" charset="-122"/>
                <a:cs typeface="Calibri" pitchFamily="34" charset="-120"/>
              </a:rPr>
              <a:t>Baselines are already measured, so the model has a real bar to clear rather than an assumed one.</a:t>
            </a:r>
            <a:endParaRPr lang="en-US" sz="1200" dirty="0"/>
          </a:p>
          <a:p>
            <a:pPr marL="342900" indent="-342900">
              <a:spcAft>
                <a:spcPts val="700"/>
              </a:spcAft>
              <a:buSzPct val="100000"/>
              <a:buChar char="•"/>
            </a:pPr>
            <a:r>
              <a:rPr lang="en-US" sz="1200" dirty="0">
                <a:solidFill>
                  <a:srgbClr val="10222C"/>
                </a:solidFill>
                <a:latin typeface="Calibri" pitchFamily="34" charset="0"/>
                <a:ea typeface="Calibri" pitchFamily="34" charset="-122"/>
                <a:cs typeface="Calibri" pitchFamily="34" charset="-120"/>
              </a:rPr>
              <a:t>A scheduled job has issued a fresh forecast every morning for three consecutive days.</a:t>
            </a:r>
            <a:endParaRPr lang="en-US" sz="1200" dirty="0"/>
          </a:p>
        </p:txBody>
      </p:sp>
      <p:sp>
        <p:nvSpPr>
          <p:cNvPr id="19" name="Text 16"/>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6304"/>
            <a:ext cx="11027664" cy="274320"/>
          </a:xfrm>
          <a:prstGeom prst="rect">
            <a:avLst/>
          </a:prstGeom>
          <a:noFill/>
          <a:ln/>
        </p:spPr>
        <p:txBody>
          <a:bodyPr wrap="square" lIns="0" tIns="0" rIns="0" bIns="0" rtlCol="0" anchor="ctr"/>
          <a:lstStyle/>
          <a:p>
            <a:pPr indent="0" marL="0">
              <a:buNone/>
            </a:pPr>
            <a:r>
              <a:rPr lang="en-US" sz="1150" b="1" spc="220" kern="0" dirty="0">
                <a:solidFill>
                  <a:srgbClr val="D4761A"/>
                </a:solidFill>
                <a:latin typeface="Calibri" pitchFamily="34" charset="0"/>
                <a:ea typeface="Calibri" pitchFamily="34" charset="-122"/>
                <a:cs typeface="Calibri" pitchFamily="34" charset="-120"/>
              </a:rPr>
              <a:t>DELIVERABLES &amp; SCHEDULE</a:t>
            </a:r>
            <a:endParaRPr lang="en-US" sz="1150" dirty="0"/>
          </a:p>
        </p:txBody>
      </p:sp>
      <p:sp>
        <p:nvSpPr>
          <p:cNvPr id="3" name="Text 1"/>
          <p:cNvSpPr txBox="1"/>
          <p:nvPr/>
        </p:nvSpPr>
        <p:spPr>
          <a:xfrm>
            <a:off x="566928" y="420624"/>
            <a:ext cx="11027664" cy="777240"/>
          </a:xfrm>
          <a:prstGeom prst="rect">
            <a:avLst/>
          </a:prstGeom>
          <a:noFill/>
          <a:ln/>
        </p:spPr>
        <p:txBody>
          <a:bodyPr wrap="square" lIns="0" tIns="0" rIns="0" bIns="0" rtlCol="0" anchor="ctr"/>
          <a:lstStyle/>
          <a:p>
            <a:pPr algn="l" indent="0" marL="0">
              <a:buNone/>
            </a:pPr>
            <a:r>
              <a:rPr lang="en-US" sz="3800" b="1" dirty="0">
                <a:solidFill>
                  <a:srgbClr val="0B3C5D"/>
                </a:solidFill>
                <a:latin typeface="Cambria" pitchFamily="34" charset="0"/>
                <a:ea typeface="Cambria" pitchFamily="34" charset="-122"/>
                <a:cs typeface="Cambria" pitchFamily="34" charset="-120"/>
              </a:rPr>
              <a:t>What we submit, and when</a:t>
            </a:r>
            <a:endParaRPr lang="en-US" sz="3800" dirty="0"/>
          </a:p>
        </p:txBody>
      </p:sp>
      <p:sp>
        <p:nvSpPr>
          <p:cNvPr id="4" name="Shape 2"/>
          <p:cNvSpPr/>
          <p:nvPr/>
        </p:nvSpPr>
        <p:spPr>
          <a:xfrm>
            <a:off x="566928" y="1517904"/>
            <a:ext cx="5806440" cy="1060704"/>
          </a:xfrm>
          <a:prstGeom prst="roundRect">
            <a:avLst>
              <a:gd name="adj" fmla="val 6897"/>
            </a:avLst>
          </a:prstGeom>
          <a:solidFill>
            <a:srgbClr val="F4F7F8"/>
          </a:solidFill>
          <a:ln w="9525">
            <a:solidFill>
              <a:srgbClr val="D6E0E4"/>
            </a:solidFill>
            <a:prstDash val="solid"/>
          </a:ln>
        </p:spPr>
      </p:sp>
      <p:sp>
        <p:nvSpPr>
          <p:cNvPr id="5" name="Text 3"/>
          <p:cNvSpPr txBox="1"/>
          <p:nvPr/>
        </p:nvSpPr>
        <p:spPr>
          <a:xfrm>
            <a:off x="786384" y="1636776"/>
            <a:ext cx="5394960" cy="292608"/>
          </a:xfrm>
          <a:prstGeom prst="rect">
            <a:avLst/>
          </a:prstGeom>
          <a:noFill/>
          <a:ln/>
        </p:spPr>
        <p:txBody>
          <a:bodyPr wrap="square" lIns="0" tIns="0" rIns="0" bIns="0" rtlCol="0" anchor="ctr"/>
          <a:lstStyle/>
          <a:p>
            <a:pPr indent="0" marL="0">
              <a:buNone/>
            </a:pPr>
            <a:r>
              <a:rPr lang="en-US" sz="1600" b="1" dirty="0">
                <a:solidFill>
                  <a:srgbClr val="0B3C5D"/>
                </a:solidFill>
                <a:latin typeface="Cambria" pitchFamily="34" charset="0"/>
                <a:ea typeface="Cambria" pitchFamily="34" charset="-122"/>
                <a:cs typeface="Cambria" pitchFamily="34" charset="-120"/>
              </a:rPr>
              <a:t>IEEE-format report</a:t>
            </a:r>
            <a:endParaRPr lang="en-US" sz="1600" dirty="0"/>
          </a:p>
        </p:txBody>
      </p:sp>
      <p:sp>
        <p:nvSpPr>
          <p:cNvPr id="6" name="Text 4"/>
          <p:cNvSpPr txBox="1"/>
          <p:nvPr/>
        </p:nvSpPr>
        <p:spPr>
          <a:xfrm>
            <a:off x="786384" y="1929384"/>
            <a:ext cx="5394960" cy="566928"/>
          </a:xfrm>
          <a:prstGeom prst="rect">
            <a:avLst/>
          </a:prstGeom>
          <a:noFill/>
          <a:ln/>
        </p:spPr>
        <p:txBody>
          <a:bodyPr wrap="square" lIns="0" tIns="0" rIns="0" bIns="0" rtlCol="0" anchor="t"/>
          <a:lstStyle/>
          <a:p>
            <a:pPr indent="0" marL="0">
              <a:buNone/>
            </a:pPr>
            <a:r>
              <a:rPr lang="en-US" sz="1150" dirty="0">
                <a:solidFill>
                  <a:srgbClr val="10222C"/>
                </a:solidFill>
                <a:latin typeface="Calibri" pitchFamily="34" charset="0"/>
                <a:ea typeface="Calibri" pitchFamily="34" charset="-122"/>
                <a:cs typeface="Calibri" pitchFamily="34" charset="-120"/>
              </a:rPr>
              <a:t>PDF, two-column IEEE template. Introduction, problem statement, objectives, literature review, methodology, timeline and risks.</a:t>
            </a:r>
            <a:endParaRPr lang="en-US" sz="1150" dirty="0"/>
          </a:p>
        </p:txBody>
      </p:sp>
      <p:sp>
        <p:nvSpPr>
          <p:cNvPr id="7" name="Shape 5"/>
          <p:cNvSpPr/>
          <p:nvPr/>
        </p:nvSpPr>
        <p:spPr>
          <a:xfrm>
            <a:off x="566928" y="2743200"/>
            <a:ext cx="5806440" cy="1060704"/>
          </a:xfrm>
          <a:prstGeom prst="roundRect">
            <a:avLst>
              <a:gd name="adj" fmla="val 6897"/>
            </a:avLst>
          </a:prstGeom>
          <a:solidFill>
            <a:srgbClr val="F4F7F8"/>
          </a:solidFill>
          <a:ln w="9525">
            <a:solidFill>
              <a:srgbClr val="D6E0E4"/>
            </a:solidFill>
            <a:prstDash val="solid"/>
          </a:ln>
        </p:spPr>
      </p:sp>
      <p:sp>
        <p:nvSpPr>
          <p:cNvPr id="8" name="Text 6"/>
          <p:cNvSpPr txBox="1"/>
          <p:nvPr/>
        </p:nvSpPr>
        <p:spPr>
          <a:xfrm>
            <a:off x="786384" y="2862072"/>
            <a:ext cx="5394960" cy="292608"/>
          </a:xfrm>
          <a:prstGeom prst="rect">
            <a:avLst/>
          </a:prstGeom>
          <a:noFill/>
          <a:ln/>
        </p:spPr>
        <p:txBody>
          <a:bodyPr wrap="square" lIns="0" tIns="0" rIns="0" bIns="0" rtlCol="0" anchor="ctr"/>
          <a:lstStyle/>
          <a:p>
            <a:pPr indent="0" marL="0">
              <a:buNone/>
            </a:pPr>
            <a:r>
              <a:rPr lang="en-US" sz="1600" b="1" dirty="0">
                <a:solidFill>
                  <a:srgbClr val="0B3C5D"/>
                </a:solidFill>
                <a:latin typeface="Cambria" pitchFamily="34" charset="0"/>
                <a:ea typeface="Cambria" pitchFamily="34" charset="-122"/>
                <a:cs typeface="Cambria" pitchFamily="34" charset="-120"/>
              </a:rPr>
              <a:t>Oral presentation</a:t>
            </a:r>
            <a:endParaRPr lang="en-US" sz="1600" dirty="0"/>
          </a:p>
        </p:txBody>
      </p:sp>
      <p:sp>
        <p:nvSpPr>
          <p:cNvPr id="9" name="Text 7"/>
          <p:cNvSpPr txBox="1"/>
          <p:nvPr/>
        </p:nvSpPr>
        <p:spPr>
          <a:xfrm>
            <a:off x="786384" y="3154680"/>
            <a:ext cx="5394960" cy="566928"/>
          </a:xfrm>
          <a:prstGeom prst="rect">
            <a:avLst/>
          </a:prstGeom>
          <a:noFill/>
          <a:ln/>
        </p:spPr>
        <p:txBody>
          <a:bodyPr wrap="square" lIns="0" tIns="0" rIns="0" bIns="0" rtlCol="0" anchor="t"/>
          <a:lstStyle/>
          <a:p>
            <a:pPr indent="0" marL="0">
              <a:buNone/>
            </a:pPr>
            <a:r>
              <a:rPr lang="en-US" sz="1150" dirty="0">
                <a:solidFill>
                  <a:srgbClr val="10222C"/>
                </a:solidFill>
                <a:latin typeface="Calibri" pitchFamily="34" charset="0"/>
                <a:ea typeface="Calibri" pitchFamily="34" charset="-122"/>
                <a:cs typeface="Calibri" pitchFamily="34" charset="-120"/>
              </a:rPr>
              <a:t>Delivered in English with this slide deck. Every team member must be able to explain the whole project, not only their own part.</a:t>
            </a:r>
            <a:endParaRPr lang="en-US" sz="1150" dirty="0"/>
          </a:p>
        </p:txBody>
      </p:sp>
      <p:sp>
        <p:nvSpPr>
          <p:cNvPr id="10" name="Text 8"/>
          <p:cNvSpPr txBox="1"/>
          <p:nvPr/>
        </p:nvSpPr>
        <p:spPr>
          <a:xfrm>
            <a:off x="566928" y="4041648"/>
            <a:ext cx="5806440" cy="457200"/>
          </a:xfrm>
          <a:prstGeom prst="rect">
            <a:avLst/>
          </a:prstGeom>
          <a:noFill/>
          <a:ln/>
        </p:spPr>
        <p:txBody>
          <a:bodyPr wrap="square" lIns="0" tIns="0" rIns="0" bIns="0" rtlCol="0" anchor="t"/>
          <a:lstStyle/>
          <a:p>
            <a:pPr indent="0" marL="0">
              <a:buNone/>
            </a:pPr>
            <a:r>
              <a:rPr lang="en-US" sz="1200" i="1" dirty="0">
                <a:solidFill>
                  <a:srgbClr val="6E8A98"/>
                </a:solidFill>
                <a:latin typeface="Calibri" pitchFamily="34" charset="0"/>
                <a:ea typeface="Calibri" pitchFamily="34" charset="-122"/>
                <a:cs typeface="Calibri" pitchFamily="34" charset="-120"/>
              </a:rPr>
              <a:t>Both deliverables are due in week 2. Report 1 carries 10 % of the course grade.</a:t>
            </a:r>
            <a:endParaRPr lang="en-US" sz="1200" dirty="0"/>
          </a:p>
        </p:txBody>
      </p:sp>
      <p:sp>
        <p:nvSpPr>
          <p:cNvPr id="11" name="Text 9"/>
          <p:cNvSpPr txBox="1"/>
          <p:nvPr/>
        </p:nvSpPr>
        <p:spPr>
          <a:xfrm>
            <a:off x="6766560" y="1517904"/>
            <a:ext cx="4846320" cy="292608"/>
          </a:xfrm>
          <a:prstGeom prst="rect">
            <a:avLst/>
          </a:prstGeom>
          <a:noFill/>
          <a:ln/>
        </p:spPr>
        <p:txBody>
          <a:bodyPr wrap="square" lIns="0" tIns="0" rIns="0" bIns="0" rtlCol="0" anchor="ctr"/>
          <a:lstStyle/>
          <a:p>
            <a:pPr indent="0" marL="0">
              <a:buNone/>
            </a:pPr>
            <a:r>
              <a:rPr lang="en-US" sz="1300" b="1" spc="100" kern="0" dirty="0">
                <a:solidFill>
                  <a:srgbClr val="1D7A8C"/>
                </a:solidFill>
                <a:latin typeface="Calibri" pitchFamily="34" charset="0"/>
                <a:ea typeface="Calibri" pitchFamily="34" charset="-122"/>
                <a:cs typeface="Calibri" pitchFamily="34" charset="-120"/>
              </a:rPr>
              <a:t>Milestones across the nine-week term</a:t>
            </a:r>
            <a:endParaRPr lang="en-US" sz="1300" dirty="0"/>
          </a:p>
        </p:txBody>
      </p:sp>
      <p:sp>
        <p:nvSpPr>
          <p:cNvPr id="12" name="Shape 10"/>
          <p:cNvSpPr/>
          <p:nvPr/>
        </p:nvSpPr>
        <p:spPr>
          <a:xfrm>
            <a:off x="6766560" y="2048256"/>
            <a:ext cx="182880" cy="182880"/>
          </a:xfrm>
          <a:prstGeom prst="ellipse">
            <a:avLst/>
          </a:prstGeom>
          <a:solidFill>
            <a:srgbClr val="D4761A"/>
          </a:solidFill>
          <a:ln/>
        </p:spPr>
      </p:sp>
      <p:sp>
        <p:nvSpPr>
          <p:cNvPr id="13" name="Shape 11"/>
          <p:cNvSpPr/>
          <p:nvPr/>
        </p:nvSpPr>
        <p:spPr>
          <a:xfrm>
            <a:off x="6858000" y="2231136"/>
            <a:ext cx="0" cy="466344"/>
          </a:xfrm>
          <a:prstGeom prst="line">
            <a:avLst/>
          </a:prstGeom>
          <a:noFill/>
          <a:ln w="15875">
            <a:solidFill>
              <a:srgbClr val="D6E0E4"/>
            </a:solidFill>
            <a:prstDash val="solid"/>
          </a:ln>
        </p:spPr>
      </p:sp>
      <p:sp>
        <p:nvSpPr>
          <p:cNvPr id="14" name="Text 12"/>
          <p:cNvSpPr txBox="1"/>
          <p:nvPr/>
        </p:nvSpPr>
        <p:spPr>
          <a:xfrm>
            <a:off x="7114032" y="1920240"/>
            <a:ext cx="1463040" cy="274320"/>
          </a:xfrm>
          <a:prstGeom prst="rect">
            <a:avLst/>
          </a:prstGeom>
          <a:noFill/>
          <a:ln/>
        </p:spPr>
        <p:txBody>
          <a:bodyPr wrap="square" lIns="0" tIns="0" rIns="0" bIns="0" rtlCol="0" anchor="ctr"/>
          <a:lstStyle/>
          <a:p>
            <a:pPr indent="0" marL="0">
              <a:buNone/>
            </a:pPr>
            <a:r>
              <a:rPr lang="en-US" sz="1350" b="1" dirty="0">
                <a:solidFill>
                  <a:srgbClr val="8A4A0C"/>
                </a:solidFill>
                <a:latin typeface="Cambria" pitchFamily="34" charset="0"/>
                <a:ea typeface="Cambria" pitchFamily="34" charset="-122"/>
                <a:cs typeface="Cambria" pitchFamily="34" charset="-120"/>
              </a:rPr>
              <a:t>Report 1</a:t>
            </a:r>
            <a:endParaRPr lang="en-US" sz="1350" dirty="0"/>
          </a:p>
        </p:txBody>
      </p:sp>
      <p:sp>
        <p:nvSpPr>
          <p:cNvPr id="15" name="Text 13"/>
          <p:cNvSpPr txBox="1"/>
          <p:nvPr/>
        </p:nvSpPr>
        <p:spPr>
          <a:xfrm>
            <a:off x="7114032" y="2185416"/>
            <a:ext cx="3017520" cy="27432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Proposal</a:t>
            </a:r>
            <a:endParaRPr lang="en-US" sz="1100" dirty="0"/>
          </a:p>
        </p:txBody>
      </p:sp>
      <p:sp>
        <p:nvSpPr>
          <p:cNvPr id="16" name="Text 14"/>
          <p:cNvSpPr txBox="1"/>
          <p:nvPr/>
        </p:nvSpPr>
        <p:spPr>
          <a:xfrm>
            <a:off x="10149840" y="1920240"/>
            <a:ext cx="914400" cy="274320"/>
          </a:xfrm>
          <a:prstGeom prst="rect">
            <a:avLst/>
          </a:prstGeom>
          <a:noFill/>
          <a:ln/>
        </p:spPr>
        <p:txBody>
          <a:bodyPr wrap="square" lIns="0" tIns="0" rIns="0" bIns="0" rtlCol="0" anchor="ctr"/>
          <a:lstStyle/>
          <a:p>
            <a:pPr algn="r" indent="0" marL="0">
              <a:buNone/>
            </a:pPr>
            <a:r>
              <a:rPr lang="en-US" sz="1150" b="1" dirty="0">
                <a:solidFill>
                  <a:srgbClr val="10222C"/>
                </a:solidFill>
                <a:latin typeface="Calibri" pitchFamily="34" charset="0"/>
                <a:ea typeface="Calibri" pitchFamily="34" charset="-122"/>
                <a:cs typeface="Calibri" pitchFamily="34" charset="-120"/>
              </a:rPr>
              <a:t>26 Sep</a:t>
            </a:r>
            <a:endParaRPr lang="en-US" sz="1150" dirty="0"/>
          </a:p>
        </p:txBody>
      </p:sp>
      <p:sp>
        <p:nvSpPr>
          <p:cNvPr id="17" name="Text 15"/>
          <p:cNvSpPr txBox="1"/>
          <p:nvPr/>
        </p:nvSpPr>
        <p:spPr>
          <a:xfrm>
            <a:off x="10149840" y="2185416"/>
            <a:ext cx="914400" cy="274320"/>
          </a:xfrm>
          <a:prstGeom prst="rect">
            <a:avLst/>
          </a:prstGeom>
          <a:noFill/>
          <a:ln/>
        </p:spPr>
        <p:txBody>
          <a:bodyPr wrap="square" lIns="0" tIns="0" rIns="0" bIns="0" rtlCol="0" anchor="ctr"/>
          <a:lstStyle/>
          <a:p>
            <a:pPr algn="r" indent="0" marL="0">
              <a:buNone/>
            </a:pPr>
            <a:r>
              <a:rPr lang="en-US" sz="1050" dirty="0">
                <a:solidFill>
                  <a:srgbClr val="6E8A98"/>
                </a:solidFill>
                <a:latin typeface="Calibri" pitchFamily="34" charset="0"/>
                <a:ea typeface="Calibri" pitchFamily="34" charset="-122"/>
                <a:cs typeface="Calibri" pitchFamily="34" charset="-120"/>
              </a:rPr>
              <a:t>10 %</a:t>
            </a:r>
            <a:endParaRPr lang="en-US" sz="1050" dirty="0"/>
          </a:p>
        </p:txBody>
      </p:sp>
      <p:sp>
        <p:nvSpPr>
          <p:cNvPr id="18" name="Shape 16"/>
          <p:cNvSpPr/>
          <p:nvPr/>
        </p:nvSpPr>
        <p:spPr>
          <a:xfrm>
            <a:off x="6766560" y="2825496"/>
            <a:ext cx="182880" cy="182880"/>
          </a:xfrm>
          <a:prstGeom prst="ellipse">
            <a:avLst/>
          </a:prstGeom>
          <a:solidFill>
            <a:srgbClr val="D6E0E4"/>
          </a:solidFill>
          <a:ln/>
        </p:spPr>
      </p:sp>
      <p:sp>
        <p:nvSpPr>
          <p:cNvPr id="19" name="Shape 17"/>
          <p:cNvSpPr/>
          <p:nvPr/>
        </p:nvSpPr>
        <p:spPr>
          <a:xfrm>
            <a:off x="6858000" y="3008376"/>
            <a:ext cx="0" cy="466344"/>
          </a:xfrm>
          <a:prstGeom prst="line">
            <a:avLst/>
          </a:prstGeom>
          <a:noFill/>
          <a:ln w="15875">
            <a:solidFill>
              <a:srgbClr val="D6E0E4"/>
            </a:solidFill>
            <a:prstDash val="solid"/>
          </a:ln>
        </p:spPr>
      </p:sp>
      <p:sp>
        <p:nvSpPr>
          <p:cNvPr id="20" name="Text 18"/>
          <p:cNvSpPr txBox="1"/>
          <p:nvPr/>
        </p:nvSpPr>
        <p:spPr>
          <a:xfrm>
            <a:off x="7114032" y="2697480"/>
            <a:ext cx="1463040" cy="27432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Report 2</a:t>
            </a:r>
            <a:endParaRPr lang="en-US" sz="1350" dirty="0"/>
          </a:p>
        </p:txBody>
      </p:sp>
      <p:sp>
        <p:nvSpPr>
          <p:cNvPr id="21" name="Text 19"/>
          <p:cNvSpPr txBox="1"/>
          <p:nvPr/>
        </p:nvSpPr>
        <p:spPr>
          <a:xfrm>
            <a:off x="7114032" y="2962656"/>
            <a:ext cx="3017520" cy="27432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Data &amp; exploratory analysis</a:t>
            </a:r>
            <a:endParaRPr lang="en-US" sz="1100" dirty="0"/>
          </a:p>
        </p:txBody>
      </p:sp>
      <p:sp>
        <p:nvSpPr>
          <p:cNvPr id="22" name="Text 20"/>
          <p:cNvSpPr txBox="1"/>
          <p:nvPr/>
        </p:nvSpPr>
        <p:spPr>
          <a:xfrm>
            <a:off x="10149840" y="2697480"/>
            <a:ext cx="914400" cy="274320"/>
          </a:xfrm>
          <a:prstGeom prst="rect">
            <a:avLst/>
          </a:prstGeom>
          <a:noFill/>
          <a:ln/>
        </p:spPr>
        <p:txBody>
          <a:bodyPr wrap="square" lIns="0" tIns="0" rIns="0" bIns="0" rtlCol="0" anchor="ctr"/>
          <a:lstStyle/>
          <a:p>
            <a:pPr algn="r" indent="0" marL="0">
              <a:buNone/>
            </a:pPr>
            <a:r>
              <a:rPr lang="en-US" sz="1150" b="1" dirty="0">
                <a:solidFill>
                  <a:srgbClr val="10222C"/>
                </a:solidFill>
                <a:latin typeface="Calibri" pitchFamily="34" charset="0"/>
                <a:ea typeface="Calibri" pitchFamily="34" charset="-122"/>
                <a:cs typeface="Calibri" pitchFamily="34" charset="-120"/>
              </a:rPr>
              <a:t>09 Oct</a:t>
            </a:r>
            <a:endParaRPr lang="en-US" sz="1150" dirty="0"/>
          </a:p>
        </p:txBody>
      </p:sp>
      <p:sp>
        <p:nvSpPr>
          <p:cNvPr id="23" name="Text 21"/>
          <p:cNvSpPr txBox="1"/>
          <p:nvPr/>
        </p:nvSpPr>
        <p:spPr>
          <a:xfrm>
            <a:off x="10149840" y="2962656"/>
            <a:ext cx="914400" cy="274320"/>
          </a:xfrm>
          <a:prstGeom prst="rect">
            <a:avLst/>
          </a:prstGeom>
          <a:noFill/>
          <a:ln/>
        </p:spPr>
        <p:txBody>
          <a:bodyPr wrap="square" lIns="0" tIns="0" rIns="0" bIns="0" rtlCol="0" anchor="ctr"/>
          <a:lstStyle/>
          <a:p>
            <a:pPr algn="r" indent="0" marL="0">
              <a:buNone/>
            </a:pPr>
            <a:r>
              <a:rPr lang="en-US" sz="1050" dirty="0">
                <a:solidFill>
                  <a:srgbClr val="6E8A98"/>
                </a:solidFill>
                <a:latin typeface="Calibri" pitchFamily="34" charset="0"/>
                <a:ea typeface="Calibri" pitchFamily="34" charset="-122"/>
                <a:cs typeface="Calibri" pitchFamily="34" charset="-120"/>
              </a:rPr>
              <a:t>20 %</a:t>
            </a:r>
            <a:endParaRPr lang="en-US" sz="1050" dirty="0"/>
          </a:p>
        </p:txBody>
      </p:sp>
      <p:sp>
        <p:nvSpPr>
          <p:cNvPr id="24" name="Shape 22"/>
          <p:cNvSpPr/>
          <p:nvPr/>
        </p:nvSpPr>
        <p:spPr>
          <a:xfrm>
            <a:off x="6766560" y="3602736"/>
            <a:ext cx="182880" cy="182880"/>
          </a:xfrm>
          <a:prstGeom prst="ellipse">
            <a:avLst/>
          </a:prstGeom>
          <a:solidFill>
            <a:srgbClr val="D6E0E4"/>
          </a:solidFill>
          <a:ln/>
        </p:spPr>
      </p:sp>
      <p:sp>
        <p:nvSpPr>
          <p:cNvPr id="25" name="Shape 23"/>
          <p:cNvSpPr/>
          <p:nvPr/>
        </p:nvSpPr>
        <p:spPr>
          <a:xfrm>
            <a:off x="6858000" y="3785616"/>
            <a:ext cx="0" cy="466344"/>
          </a:xfrm>
          <a:prstGeom prst="line">
            <a:avLst/>
          </a:prstGeom>
          <a:noFill/>
          <a:ln w="15875">
            <a:solidFill>
              <a:srgbClr val="D6E0E4"/>
            </a:solidFill>
            <a:prstDash val="solid"/>
          </a:ln>
        </p:spPr>
      </p:sp>
      <p:sp>
        <p:nvSpPr>
          <p:cNvPr id="26" name="Text 24"/>
          <p:cNvSpPr txBox="1"/>
          <p:nvPr/>
        </p:nvSpPr>
        <p:spPr>
          <a:xfrm>
            <a:off x="7114032" y="3474720"/>
            <a:ext cx="1463040" cy="27432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Report 3</a:t>
            </a:r>
            <a:endParaRPr lang="en-US" sz="1350" dirty="0"/>
          </a:p>
        </p:txBody>
      </p:sp>
      <p:sp>
        <p:nvSpPr>
          <p:cNvPr id="27" name="Text 25"/>
          <p:cNvSpPr txBox="1"/>
          <p:nvPr/>
        </p:nvSpPr>
        <p:spPr>
          <a:xfrm>
            <a:off x="7114032" y="3739896"/>
            <a:ext cx="3017520" cy="27432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Modelling &amp; evaluation</a:t>
            </a:r>
            <a:endParaRPr lang="en-US" sz="1100" dirty="0"/>
          </a:p>
        </p:txBody>
      </p:sp>
      <p:sp>
        <p:nvSpPr>
          <p:cNvPr id="28" name="Text 26"/>
          <p:cNvSpPr txBox="1"/>
          <p:nvPr/>
        </p:nvSpPr>
        <p:spPr>
          <a:xfrm>
            <a:off x="10149840" y="3474720"/>
            <a:ext cx="914400" cy="274320"/>
          </a:xfrm>
          <a:prstGeom prst="rect">
            <a:avLst/>
          </a:prstGeom>
          <a:noFill/>
          <a:ln/>
        </p:spPr>
        <p:txBody>
          <a:bodyPr wrap="square" lIns="0" tIns="0" rIns="0" bIns="0" rtlCol="0" anchor="ctr"/>
          <a:lstStyle/>
          <a:p>
            <a:pPr algn="r" indent="0" marL="0">
              <a:buNone/>
            </a:pPr>
            <a:r>
              <a:rPr lang="en-US" sz="1150" b="1" dirty="0">
                <a:solidFill>
                  <a:srgbClr val="10222C"/>
                </a:solidFill>
                <a:latin typeface="Calibri" pitchFamily="34" charset="0"/>
                <a:ea typeface="Calibri" pitchFamily="34" charset="-122"/>
                <a:cs typeface="Calibri" pitchFamily="34" charset="-120"/>
              </a:rPr>
              <a:t>02 Nov</a:t>
            </a:r>
            <a:endParaRPr lang="en-US" sz="1150" dirty="0"/>
          </a:p>
        </p:txBody>
      </p:sp>
      <p:sp>
        <p:nvSpPr>
          <p:cNvPr id="29" name="Text 27"/>
          <p:cNvSpPr txBox="1"/>
          <p:nvPr/>
        </p:nvSpPr>
        <p:spPr>
          <a:xfrm>
            <a:off x="10149840" y="3739896"/>
            <a:ext cx="914400" cy="274320"/>
          </a:xfrm>
          <a:prstGeom prst="rect">
            <a:avLst/>
          </a:prstGeom>
          <a:noFill/>
          <a:ln/>
        </p:spPr>
        <p:txBody>
          <a:bodyPr wrap="square" lIns="0" tIns="0" rIns="0" bIns="0" rtlCol="0" anchor="ctr"/>
          <a:lstStyle/>
          <a:p>
            <a:pPr algn="r" indent="0" marL="0">
              <a:buNone/>
            </a:pPr>
            <a:r>
              <a:rPr lang="en-US" sz="1050" dirty="0">
                <a:solidFill>
                  <a:srgbClr val="6E8A98"/>
                </a:solidFill>
                <a:latin typeface="Calibri" pitchFamily="34" charset="0"/>
                <a:ea typeface="Calibri" pitchFamily="34" charset="-122"/>
                <a:cs typeface="Calibri" pitchFamily="34" charset="-120"/>
              </a:rPr>
              <a:t>40 %</a:t>
            </a:r>
            <a:endParaRPr lang="en-US" sz="1050" dirty="0"/>
          </a:p>
        </p:txBody>
      </p:sp>
      <p:sp>
        <p:nvSpPr>
          <p:cNvPr id="30" name="Shape 28"/>
          <p:cNvSpPr/>
          <p:nvPr/>
        </p:nvSpPr>
        <p:spPr>
          <a:xfrm>
            <a:off x="6766560" y="4379976"/>
            <a:ext cx="182880" cy="182880"/>
          </a:xfrm>
          <a:prstGeom prst="ellipse">
            <a:avLst/>
          </a:prstGeom>
          <a:solidFill>
            <a:srgbClr val="D6E0E4"/>
          </a:solidFill>
          <a:ln/>
        </p:spPr>
      </p:sp>
      <p:sp>
        <p:nvSpPr>
          <p:cNvPr id="31" name="Shape 29"/>
          <p:cNvSpPr/>
          <p:nvPr/>
        </p:nvSpPr>
        <p:spPr>
          <a:xfrm>
            <a:off x="6858000" y="4562856"/>
            <a:ext cx="0" cy="466344"/>
          </a:xfrm>
          <a:prstGeom prst="line">
            <a:avLst/>
          </a:prstGeom>
          <a:noFill/>
          <a:ln w="15875">
            <a:solidFill>
              <a:srgbClr val="D6E0E4"/>
            </a:solidFill>
            <a:prstDash val="solid"/>
          </a:ln>
        </p:spPr>
      </p:sp>
      <p:sp>
        <p:nvSpPr>
          <p:cNvPr id="32" name="Text 30"/>
          <p:cNvSpPr txBox="1"/>
          <p:nvPr/>
        </p:nvSpPr>
        <p:spPr>
          <a:xfrm>
            <a:off x="7114032" y="4251960"/>
            <a:ext cx="1463040" cy="27432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Report 4</a:t>
            </a:r>
            <a:endParaRPr lang="en-US" sz="1350" dirty="0"/>
          </a:p>
        </p:txBody>
      </p:sp>
      <p:sp>
        <p:nvSpPr>
          <p:cNvPr id="33" name="Text 31"/>
          <p:cNvSpPr txBox="1"/>
          <p:nvPr/>
        </p:nvSpPr>
        <p:spPr>
          <a:xfrm>
            <a:off x="7114032" y="4517136"/>
            <a:ext cx="3017520" cy="27432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Final consolidated report</a:t>
            </a:r>
            <a:endParaRPr lang="en-US" sz="1100" dirty="0"/>
          </a:p>
        </p:txBody>
      </p:sp>
      <p:sp>
        <p:nvSpPr>
          <p:cNvPr id="34" name="Text 32"/>
          <p:cNvSpPr txBox="1"/>
          <p:nvPr/>
        </p:nvSpPr>
        <p:spPr>
          <a:xfrm>
            <a:off x="10149840" y="4251960"/>
            <a:ext cx="914400" cy="274320"/>
          </a:xfrm>
          <a:prstGeom prst="rect">
            <a:avLst/>
          </a:prstGeom>
          <a:noFill/>
          <a:ln/>
        </p:spPr>
        <p:txBody>
          <a:bodyPr wrap="square" lIns="0" tIns="0" rIns="0" bIns="0" rtlCol="0" anchor="ctr"/>
          <a:lstStyle/>
          <a:p>
            <a:pPr algn="r" indent="0" marL="0">
              <a:buNone/>
            </a:pPr>
            <a:r>
              <a:rPr lang="en-US" sz="1150" b="1" dirty="0">
                <a:solidFill>
                  <a:srgbClr val="10222C"/>
                </a:solidFill>
                <a:latin typeface="Calibri" pitchFamily="34" charset="0"/>
                <a:ea typeface="Calibri" pitchFamily="34" charset="-122"/>
                <a:cs typeface="Calibri" pitchFamily="34" charset="-120"/>
              </a:rPr>
              <a:t>10 Nov</a:t>
            </a:r>
            <a:endParaRPr lang="en-US" sz="1150" dirty="0"/>
          </a:p>
        </p:txBody>
      </p:sp>
      <p:sp>
        <p:nvSpPr>
          <p:cNvPr id="35" name="Text 33"/>
          <p:cNvSpPr txBox="1"/>
          <p:nvPr/>
        </p:nvSpPr>
        <p:spPr>
          <a:xfrm>
            <a:off x="10149840" y="4517136"/>
            <a:ext cx="914400" cy="274320"/>
          </a:xfrm>
          <a:prstGeom prst="rect">
            <a:avLst/>
          </a:prstGeom>
          <a:noFill/>
          <a:ln/>
        </p:spPr>
        <p:txBody>
          <a:bodyPr wrap="square" lIns="0" tIns="0" rIns="0" bIns="0" rtlCol="0" anchor="ctr"/>
          <a:lstStyle/>
          <a:p>
            <a:pPr algn="r" indent="0" marL="0">
              <a:buNone/>
            </a:pPr>
            <a:r>
              <a:rPr lang="en-US" sz="1050" dirty="0">
                <a:solidFill>
                  <a:srgbClr val="6E8A98"/>
                </a:solidFill>
                <a:latin typeface="Calibri" pitchFamily="34" charset="0"/>
                <a:ea typeface="Calibri" pitchFamily="34" charset="-122"/>
                <a:cs typeface="Calibri" pitchFamily="34" charset="-120"/>
              </a:rPr>
              <a:t>10 %</a:t>
            </a:r>
            <a:endParaRPr lang="en-US" sz="1050" dirty="0"/>
          </a:p>
        </p:txBody>
      </p:sp>
      <p:sp>
        <p:nvSpPr>
          <p:cNvPr id="36" name="Shape 34"/>
          <p:cNvSpPr/>
          <p:nvPr/>
        </p:nvSpPr>
        <p:spPr>
          <a:xfrm>
            <a:off x="6766560" y="5157216"/>
            <a:ext cx="182880" cy="182880"/>
          </a:xfrm>
          <a:prstGeom prst="ellipse">
            <a:avLst/>
          </a:prstGeom>
          <a:solidFill>
            <a:srgbClr val="D6E0E4"/>
          </a:solidFill>
          <a:ln/>
        </p:spPr>
      </p:sp>
      <p:sp>
        <p:nvSpPr>
          <p:cNvPr id="37" name="Text 35"/>
          <p:cNvSpPr txBox="1"/>
          <p:nvPr/>
        </p:nvSpPr>
        <p:spPr>
          <a:xfrm>
            <a:off x="7114032" y="5029200"/>
            <a:ext cx="1463040" cy="27432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Viva</a:t>
            </a:r>
            <a:endParaRPr lang="en-US" sz="1350" dirty="0"/>
          </a:p>
        </p:txBody>
      </p:sp>
      <p:sp>
        <p:nvSpPr>
          <p:cNvPr id="38" name="Text 36"/>
          <p:cNvSpPr txBox="1"/>
          <p:nvPr/>
        </p:nvSpPr>
        <p:spPr>
          <a:xfrm>
            <a:off x="7114032" y="5294376"/>
            <a:ext cx="3017520" cy="274320"/>
          </a:xfrm>
          <a:prstGeom prst="rect">
            <a:avLst/>
          </a:prstGeom>
          <a:noFill/>
          <a:ln/>
        </p:spPr>
        <p:txBody>
          <a:bodyPr wrap="square" lIns="0" tIns="0" rIns="0" bIns="0" rtlCol="0" anchor="ctr"/>
          <a:lstStyle/>
          <a:p>
            <a:pPr indent="0" marL="0">
              <a:buNone/>
            </a:pPr>
            <a:r>
              <a:rPr lang="en-US" sz="1100" dirty="0">
                <a:solidFill>
                  <a:srgbClr val="6E8A98"/>
                </a:solidFill>
                <a:latin typeface="Calibri" pitchFamily="34" charset="0"/>
                <a:ea typeface="Calibri" pitchFamily="34" charset="-122"/>
                <a:cs typeface="Calibri" pitchFamily="34" charset="-120"/>
              </a:rPr>
              <a:t>Individually assessed</a:t>
            </a:r>
            <a:endParaRPr lang="en-US" sz="1100" dirty="0"/>
          </a:p>
        </p:txBody>
      </p:sp>
      <p:sp>
        <p:nvSpPr>
          <p:cNvPr id="39" name="Text 37"/>
          <p:cNvSpPr txBox="1"/>
          <p:nvPr/>
        </p:nvSpPr>
        <p:spPr>
          <a:xfrm>
            <a:off x="10149840" y="5029200"/>
            <a:ext cx="914400" cy="274320"/>
          </a:xfrm>
          <a:prstGeom prst="rect">
            <a:avLst/>
          </a:prstGeom>
          <a:noFill/>
          <a:ln/>
        </p:spPr>
        <p:txBody>
          <a:bodyPr wrap="square" lIns="0" tIns="0" rIns="0" bIns="0" rtlCol="0" anchor="ctr"/>
          <a:lstStyle/>
          <a:p>
            <a:pPr algn="r" indent="0" marL="0">
              <a:buNone/>
            </a:pPr>
            <a:r>
              <a:rPr lang="en-US" sz="1150" b="1" dirty="0">
                <a:solidFill>
                  <a:srgbClr val="10222C"/>
                </a:solidFill>
                <a:latin typeface="Calibri" pitchFamily="34" charset="0"/>
                <a:ea typeface="Calibri" pitchFamily="34" charset="-122"/>
                <a:cs typeface="Calibri" pitchFamily="34" charset="-120"/>
              </a:rPr>
              <a:t>13–16 Nov</a:t>
            </a:r>
            <a:endParaRPr lang="en-US" sz="1150" dirty="0"/>
          </a:p>
        </p:txBody>
      </p:sp>
      <p:sp>
        <p:nvSpPr>
          <p:cNvPr id="40" name="Text 38"/>
          <p:cNvSpPr txBox="1"/>
          <p:nvPr/>
        </p:nvSpPr>
        <p:spPr>
          <a:xfrm>
            <a:off x="10149840" y="5294376"/>
            <a:ext cx="914400" cy="274320"/>
          </a:xfrm>
          <a:prstGeom prst="rect">
            <a:avLst/>
          </a:prstGeom>
          <a:noFill/>
          <a:ln/>
        </p:spPr>
        <p:txBody>
          <a:bodyPr wrap="square" lIns="0" tIns="0" rIns="0" bIns="0" rtlCol="0" anchor="ctr"/>
          <a:lstStyle/>
          <a:p>
            <a:pPr algn="r" indent="0" marL="0">
              <a:buNone/>
            </a:pPr>
            <a:r>
              <a:rPr lang="en-US" sz="1050" dirty="0">
                <a:solidFill>
                  <a:srgbClr val="6E8A98"/>
                </a:solidFill>
                <a:latin typeface="Calibri" pitchFamily="34" charset="0"/>
                <a:ea typeface="Calibri" pitchFamily="34" charset="-122"/>
                <a:cs typeface="Calibri" pitchFamily="34" charset="-120"/>
              </a:rPr>
              <a:t>20 %</a:t>
            </a:r>
            <a:endParaRPr lang="en-US" sz="1050" dirty="0"/>
          </a:p>
        </p:txBody>
      </p:sp>
      <p:sp>
        <p:nvSpPr>
          <p:cNvPr id="41" name="Text 39"/>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950" dirty="0">
                <a:solidFill>
                  <a:srgbClr val="6E8A98"/>
                </a:solidFill>
                <a:latin typeface="Calibri" pitchFamily="34" charset="0"/>
                <a:ea typeface="Calibri" pitchFamily="34" charset="-122"/>
                <a:cs typeface="Calibri" pitchFamily="34" charset="-120"/>
              </a:rPr>
              <a:t>DSP391m · Report 1 — Project Proposal   |   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263A"/>
        </a:solidFill>
      </p:bgPr>
    </p:bg>
    <p:spTree>
      <p:nvGrpSpPr>
        <p:cNvPr id="1" name=""/>
        <p:cNvGrpSpPr/>
        <p:nvPr/>
      </p:nvGrpSpPr>
      <p:grpSpPr>
        <a:xfrm>
          <a:off x="0" y="0"/>
          <a:ext cx="0" cy="0"/>
          <a:chOff x="0" y="0"/>
          <a:chExt cx="0" cy="0"/>
        </a:xfrm>
      </p:grpSpPr>
      <p:sp>
        <p:nvSpPr>
          <p:cNvPr id="2" name="Text 0"/>
          <p:cNvSpPr txBox="1"/>
          <p:nvPr/>
        </p:nvSpPr>
        <p:spPr>
          <a:xfrm>
            <a:off x="566928" y="1188720"/>
            <a:ext cx="10149840" cy="292608"/>
          </a:xfrm>
          <a:prstGeom prst="rect">
            <a:avLst/>
          </a:prstGeom>
          <a:noFill/>
          <a:ln/>
        </p:spPr>
        <p:txBody>
          <a:bodyPr wrap="square" lIns="0" tIns="0" rIns="0" bIns="0" rtlCol="0" anchor="ctr"/>
          <a:lstStyle/>
          <a:p>
            <a:pPr indent="0" marL="0">
              <a:buNone/>
            </a:pPr>
            <a:r>
              <a:rPr lang="en-US" sz="1150" b="1" spc="300" kern="0" dirty="0">
                <a:solidFill>
                  <a:srgbClr val="D4761A"/>
                </a:solidFill>
                <a:latin typeface="Calibri" pitchFamily="34" charset="0"/>
                <a:ea typeface="Calibri" pitchFamily="34" charset="-122"/>
                <a:cs typeface="Calibri" pitchFamily="34" charset="-120"/>
              </a:rPr>
              <a:t>IN ONE SENTENCE</a:t>
            </a:r>
            <a:endParaRPr lang="en-US" sz="1150" dirty="0"/>
          </a:p>
        </p:txBody>
      </p:sp>
      <p:sp>
        <p:nvSpPr>
          <p:cNvPr id="3" name="Text 1"/>
          <p:cNvSpPr txBox="1"/>
          <p:nvPr/>
        </p:nvSpPr>
        <p:spPr>
          <a:xfrm>
            <a:off x="566928" y="1627632"/>
            <a:ext cx="1014984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We correct and localise an open global flood forecast into Vietnam's own alert stages for the Huong River, one to three days ahead.</a:t>
            </a:r>
            <a:endParaRPr lang="en-US" sz="3000" dirty="0"/>
          </a:p>
        </p:txBody>
      </p:sp>
      <p:sp>
        <p:nvSpPr>
          <p:cNvPr id="4" name="Shape 2"/>
          <p:cNvSpPr/>
          <p:nvPr/>
        </p:nvSpPr>
        <p:spPr>
          <a:xfrm>
            <a:off x="566928" y="3200400"/>
            <a:ext cx="2926080" cy="0"/>
          </a:xfrm>
          <a:prstGeom prst="line">
            <a:avLst/>
          </a:prstGeom>
          <a:noFill/>
          <a:ln w="25400">
            <a:solidFill>
              <a:srgbClr val="1D7A8C"/>
            </a:solidFill>
            <a:prstDash val="solid"/>
          </a:ln>
        </p:spPr>
      </p:sp>
      <p:sp>
        <p:nvSpPr>
          <p:cNvPr id="5" name="Text 3"/>
          <p:cNvSpPr txBox="1"/>
          <p:nvPr/>
        </p:nvSpPr>
        <p:spPr>
          <a:xfrm>
            <a:off x="566928" y="3438144"/>
            <a:ext cx="5120640" cy="292608"/>
          </a:xfrm>
          <a:prstGeom prst="rect">
            <a:avLst/>
          </a:prstGeom>
          <a:noFill/>
          <a:ln/>
        </p:spPr>
        <p:txBody>
          <a:bodyPr wrap="square" lIns="0" tIns="0" rIns="0" bIns="0" rtlCol="0" anchor="ctr"/>
          <a:lstStyle/>
          <a:p>
            <a:pPr indent="0" marL="0">
              <a:buNone/>
            </a:pPr>
            <a:r>
              <a:rPr lang="en-US" sz="1250" b="1" spc="140" kern="0" dirty="0">
                <a:solidFill>
                  <a:srgbClr val="9FC4D2"/>
                </a:solidFill>
                <a:latin typeface="Calibri" pitchFamily="34" charset="0"/>
                <a:ea typeface="Calibri" pitchFamily="34" charset="-122"/>
                <a:cs typeface="Calibri" pitchFamily="34" charset="-120"/>
              </a:rPr>
              <a:t>Next three steps</a:t>
            </a:r>
            <a:endParaRPr lang="en-US" sz="1250" dirty="0"/>
          </a:p>
        </p:txBody>
      </p:sp>
      <p:sp>
        <p:nvSpPr>
          <p:cNvPr id="6" name="Text 4"/>
          <p:cNvSpPr txBox="1"/>
          <p:nvPr/>
        </p:nvSpPr>
        <p:spPr>
          <a:xfrm>
            <a:off x="566928" y="3767328"/>
            <a:ext cx="5120640" cy="16459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Complete the flood-event record that unlocks the alert-stage target.</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Train the forecasting model and beat the measured baselines.</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Test whether reservoir operation explains the anomalies we found.</a:t>
            </a:r>
            <a:endParaRPr lang="en-US" sz="1350" dirty="0"/>
          </a:p>
        </p:txBody>
      </p:sp>
      <p:sp>
        <p:nvSpPr>
          <p:cNvPr id="7" name="Shape 5"/>
          <p:cNvSpPr/>
          <p:nvPr/>
        </p:nvSpPr>
        <p:spPr>
          <a:xfrm>
            <a:off x="6492240" y="3383280"/>
            <a:ext cx="5120640" cy="2057400"/>
          </a:xfrm>
          <a:prstGeom prst="roundRect">
            <a:avLst>
              <a:gd name="adj" fmla="val 3556"/>
            </a:avLst>
          </a:prstGeom>
          <a:solidFill>
            <a:srgbClr val="0E3550"/>
          </a:solidFill>
          <a:ln w="9525">
            <a:solidFill>
              <a:srgbClr val="1C5375"/>
            </a:solidFill>
            <a:prstDash val="solid"/>
          </a:ln>
        </p:spPr>
      </p:sp>
      <p:sp>
        <p:nvSpPr>
          <p:cNvPr id="8" name="Text 6"/>
          <p:cNvSpPr txBox="1"/>
          <p:nvPr/>
        </p:nvSpPr>
        <p:spPr>
          <a:xfrm>
            <a:off x="6729984" y="3566160"/>
            <a:ext cx="4663440" cy="274320"/>
          </a:xfrm>
          <a:prstGeom prst="rect">
            <a:avLst/>
          </a:prstGeom>
          <a:noFill/>
          <a:ln/>
        </p:spPr>
        <p:txBody>
          <a:bodyPr wrap="square" lIns="0" tIns="0" rIns="0" bIns="0" rtlCol="0" anchor="ctr"/>
          <a:lstStyle/>
          <a:p>
            <a:pPr indent="0" marL="0">
              <a:buNone/>
            </a:pPr>
            <a:r>
              <a:rPr lang="en-US" sz="1150" b="1" spc="120" kern="0" dirty="0">
                <a:solidFill>
                  <a:srgbClr val="D4761A"/>
                </a:solidFill>
                <a:latin typeface="Calibri" pitchFamily="34" charset="0"/>
                <a:ea typeface="Calibri" pitchFamily="34" charset="-122"/>
                <a:cs typeface="Calibri" pitchFamily="34" charset="-120"/>
              </a:rPr>
              <a:t>Stated plainly in the report</a:t>
            </a:r>
            <a:endParaRPr lang="en-US" sz="1150" dirty="0"/>
          </a:p>
        </p:txBody>
      </p:sp>
      <p:sp>
        <p:nvSpPr>
          <p:cNvPr id="9" name="Text 7"/>
          <p:cNvSpPr txBox="1"/>
          <p:nvPr/>
        </p:nvSpPr>
        <p:spPr>
          <a:xfrm>
            <a:off x="6729984" y="3877056"/>
            <a:ext cx="466344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C9DCE4"/>
                </a:solidFill>
                <a:latin typeface="Calibri" pitchFamily="34" charset="0"/>
                <a:ea typeface="Calibri" pitchFamily="34" charset="-122"/>
                <a:cs typeface="Calibri" pitchFamily="34" charset="-120"/>
              </a:rPr>
              <a:t>Discharge data is simulated, not measured.</a:t>
            </a:r>
            <a:endParaRPr lang="en-US" sz="1150" dirty="0"/>
          </a:p>
          <a:p>
            <a:pPr marL="342900" indent="-342900">
              <a:spcAft>
                <a:spcPts val="600"/>
              </a:spcAft>
              <a:buSzPct val="100000"/>
              <a:buChar char="•"/>
            </a:pPr>
            <a:r>
              <a:rPr lang="en-US" sz="1150" dirty="0">
                <a:solidFill>
                  <a:srgbClr val="C9DCE4"/>
                </a:solidFill>
                <a:latin typeface="Calibri" pitchFamily="34" charset="0"/>
                <a:ea typeface="Calibri" pitchFamily="34" charset="-122"/>
                <a:cs typeface="Calibri" pitchFamily="34" charset="-120"/>
              </a:rPr>
              <a:t>The 5 km grid cannot resolve the neighbouring Bo River, so the study covers one station.</a:t>
            </a:r>
            <a:endParaRPr lang="en-US" sz="1150" dirty="0"/>
          </a:p>
          <a:p>
            <a:pPr marL="342900" indent="-342900">
              <a:spcAft>
                <a:spcPts val="600"/>
              </a:spcAft>
              <a:buSzPct val="100000"/>
              <a:buChar char="•"/>
            </a:pPr>
            <a:r>
              <a:rPr lang="en-US" sz="1150" dirty="0">
                <a:solidFill>
                  <a:srgbClr val="C9DCE4"/>
                </a:solidFill>
                <a:latin typeface="Calibri" pitchFamily="34" charset="0"/>
                <a:ea typeface="Calibri" pitchFamily="34" charset="-122"/>
                <a:cs typeface="Calibri" pitchFamily="34" charset="-120"/>
              </a:rPr>
              <a:t>This is academic work, not an official warning service.</a:t>
            </a:r>
            <a:endParaRPr lang="en-US" sz="1150" dirty="0"/>
          </a:p>
        </p:txBody>
      </p:sp>
      <p:sp>
        <p:nvSpPr>
          <p:cNvPr id="10" name="Text 8"/>
          <p:cNvSpPr txBox="1"/>
          <p:nvPr/>
        </p:nvSpPr>
        <p:spPr>
          <a:xfrm>
            <a:off x="566928" y="5897880"/>
            <a:ext cx="10149840" cy="365760"/>
          </a:xfrm>
          <a:prstGeom prst="rect">
            <a:avLst/>
          </a:prstGeom>
          <a:noFill/>
          <a:ln/>
        </p:spPr>
        <p:txBody>
          <a:bodyPr wrap="square" lIns="0" tIns="0" rIns="0" bIns="0" rtlCol="0" anchor="ctr"/>
          <a:lstStyle/>
          <a:p>
            <a:pPr indent="0" marL="0">
              <a:buNone/>
            </a:pPr>
            <a:r>
              <a:rPr lang="en-US" sz="1500" i="1" dirty="0">
                <a:solidFill>
                  <a:srgbClr val="9FC4D2"/>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 Risk Forecasting for the Huong River</dc:title>
  <dc:subject>PptxGenJS Presentation</dc:subject>
  <dc:creator>Nhom DSP391m</dc:creator>
  <cp:lastModifiedBy>Nhom DSP391m</cp:lastModifiedBy>
  <cp:revision>1</cp:revision>
  <dcterms:created xsi:type="dcterms:W3CDTF">2026-09-17T04:32:44Z</dcterms:created>
  <dcterms:modified xsi:type="dcterms:W3CDTF">2026-09-17T04:32:44Z</dcterms:modified>
</cp:coreProperties>
</file>